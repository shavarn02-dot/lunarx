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531352" cy="41148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br/>
            <a:r>
              <a:t>Team Name: [INSERT TEAM NAME]</a:t>
            </a:r>
            <a:br/>
          </a:p>
          <a:p>
            <a:pPr algn="ctr">
              <a:defRPr sz="2800" b="1">
                <a:solidFill>
                  <a:srgbClr val="F16A21"/>
                </a:solidFill>
              </a:defRPr>
            </a:pPr>
            <a:r>
              <a:t>Problem Statement Code: SIH26166</a:t>
            </a:r>
            <a:br/>
          </a:p>
          <a:p>
            <a:pPr algn="ctr">
              <a:defRPr sz="2200" b="1"/>
            </a:pPr>
            <a:r>
              <a:t>Problem Statement Title: Automatic Feature Extraction and Image Registration of Chandrayaan-2 Lunar Imagery (OHRC, TMC-2, IIRS)</a:t>
            </a:r>
          </a:p>
          <a:p>
            <a:br/>
            <a:pPr algn="ctr">
              <a:defRPr sz="2000"/>
            </a:pPr>
            <a:r>
              <a:t>Theme: Space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Idea /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The Problem:</a:t>
            </a:r>
          </a:p>
          <a:p>
            <a:pPr>
              <a:defRPr sz="2000"/>
            </a:pPr>
            <a:r>
              <a:t>? Lack of illumination inside deep lunar craters.</a:t>
            </a:r>
            <a:br/>
            <a:r>
              <a:t>? Drastic scale differences (25cm OHRC vs 5m TMC-2).</a:t>
            </a:r>
            <a:br/>
            <a:r>
              <a:t>? Existing algorithms (SIFT/ORB) fail due to shadows and scale gaps.</a:t>
            </a:r>
          </a:p>
          <a:p>
            <a:br/>
            <a:pPr>
              <a:defRPr b="1" sz="2400">
                <a:solidFill>
                  <a:srgbClr val="F16A21"/>
                </a:solidFill>
              </a:defRPr>
            </a:pPr>
            <a:r>
              <a:t>Our Proposed Solution (Chandra-Align):</a:t>
            </a:r>
          </a:p>
          <a:p>
            <a:pPr>
              <a:defRPr sz="2000"/>
            </a:pPr>
            <a:r>
              <a:t>? Adaptive CLAHE Preprocessing to extract faint crater reflections.</a:t>
            </a:r>
            <a:br/>
            <a:r>
              <a:t>? Transformer-based LoFTR / SuperPoint matching for scale-invariant features.</a:t>
            </a:r>
            <a:br/>
            <a:r>
              <a:t>? MAGSAC++ for robust, sub-pixel accurate global registration.</a:t>
            </a:r>
          </a:p>
        </p:txBody>
      </p:sp>
      <p:pic>
        <p:nvPicPr>
          <p:cNvPr id="7" name="Picture 6" descr="benchma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486400" cy="327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1. Image Ingestion (PDS4/XML)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2. Multi-Scale Preprocessing (CLAHE)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3. Transformer Feature Matching (LoFTR/LightGlue)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4. Spatial Uniformity Filter (Grid Check)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5. Sub-Pixel Refinement (CornerSubPix)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6. Robust Estimation (MAGSAC++)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69279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7. Seamless Mosaicking</a:t>
            </a:r>
          </a:p>
        </p:txBody>
      </p:sp>
      <p:pic>
        <p:nvPicPr>
          <p:cNvPr id="13" name="Picture 12" descr="rms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35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Use Cases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0072BC"/>
                </a:solidFill>
              </a:defRPr>
            </a:pPr>
            <a:r>
              <a:t>? ISRO PRADAN Portal Integration</a:t>
            </a:r>
          </a:p>
          <a:p>
            <a:pPr>
              <a:defRPr sz="2000"/>
            </a:pPr>
            <a:r>
              <a:t>   Automates seamless ingestion and mosaicking of PDS4 planetary data for public release.</a:t>
            </a:r>
            <a:br/>
          </a:p>
          <a:p>
            <a:pPr>
              <a:defRPr b="1" sz="2400">
                <a:solidFill>
                  <a:srgbClr val="0072BC"/>
                </a:solidFill>
              </a:defRPr>
            </a:pPr>
            <a:r>
              <a:t>? Lunar Crater Water Detection</a:t>
            </a:r>
          </a:p>
          <a:p>
            <a:pPr>
              <a:defRPr sz="2000"/>
            </a:pPr>
            <a:r>
              <a:t>   Accurately aligns multi-temporal orbital passes to track ice signatures in permanently shadowed regions (PSRs).</a:t>
            </a:r>
            <a:br/>
          </a:p>
          <a:p>
            <a:pPr>
              <a:defRPr b="1" sz="2400">
                <a:solidFill>
                  <a:srgbClr val="0072BC"/>
                </a:solidFill>
              </a:defRPr>
            </a:pPr>
            <a:r>
              <a:t>? Safe Lander Hazard Avoidance</a:t>
            </a:r>
          </a:p>
          <a:p>
            <a:pPr>
              <a:defRPr sz="2000"/>
            </a:pPr>
            <a:r>
              <a:t>   Registers high-res OHRC images onto base maps for precise rover path planning and boulder detection.</a:t>
            </a:r>
            <a:br/>
          </a:p>
          <a:p>
            <a:pPr>
              <a:defRPr b="1" sz="2400">
                <a:solidFill>
                  <a:srgbClr val="0072BC"/>
                </a:solidFill>
              </a:defRPr>
            </a:pPr>
            <a:r>
              <a:t>? Automated Mission Dashboard</a:t>
            </a:r>
          </a:p>
          <a:p>
            <a:pPr>
              <a:defRPr sz="2000"/>
            </a:pPr>
            <a:r>
              <a:t>   Provides real-time sub-pixel accuracy metrics for ISRO scientists via Streamlit UI.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Show Stoppers &amp; Risk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C80000"/>
                </a:solidFill>
              </a:defRPr>
            </a:pPr>
            <a:r>
              <a:t>Potential Risks (Show Stoppers):</a:t>
            </a:r>
          </a:p>
          <a:p>
            <a:pPr>
              <a:defRPr sz="2000"/>
            </a:pPr>
            <a:r>
              <a:t>1. Extremely Deep Shadows: Complete lack of photon data in craters.</a:t>
            </a:r>
          </a:p>
          <a:p>
            <a:pPr>
              <a:defRPr sz="2000"/>
            </a:pPr>
            <a:r>
              <a:t>2. Featureless Terrain: Some regions lack craters, causing match failure.</a:t>
            </a:r>
          </a:p>
          <a:p>
            <a:pPr>
              <a:defRPr sz="2000"/>
            </a:pPr>
            <a:r>
              <a:t>3. Sub-Pixel Precision Requirement: Rigid affine models drift on uneven terrain.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16A21"/>
                </a:solidFill>
              </a:defRPr>
            </a:pPr>
            <a:r>
              <a:t>Risk Mitigation &amp; Dependencies:</a:t>
            </a:r>
          </a:p>
          <a:p>
            <a:pPr>
              <a:defRPr sz="2000"/>
            </a:pPr>
            <a:r>
              <a:t>1. CLAHE &amp; LoFTR: Amplifies 2% secondary reflection, LoFTR finds dense feature correlations in low contrast.</a:t>
            </a:r>
          </a:p>
          <a:p>
            <a:pPr>
              <a:defRPr sz="2000"/>
            </a:pPr>
            <a:r>
              <a:t>2. Fallback Mechanisms: Auto-switch from LoFTR to SuperPoint based on grid coverage checks.</a:t>
            </a:r>
          </a:p>
          <a:p>
            <a:pPr>
              <a:defRPr sz="2000"/>
            </a:pPr>
            <a:r>
              <a:t>3. MAGSAC++ / CornerSubPix: Filters noisy matches and snaps to true gradient extrema for &lt;0.15px RMSE.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Benchmarking &amp;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Why our solution stands out:</a:t>
            </a:r>
          </a:p>
          <a:p>
            <a:pPr>
              <a:defRPr sz="2000"/>
            </a:pPr>
            <a:r>
              <a:t>? Extreme Accuracy: Verified Coarse RMSE of 0.125px (SIFT) to 0.257px (LoFTR) on real orbital imagery.</a:t>
            </a:r>
          </a:p>
          <a:p>
            <a:pPr>
              <a:defRPr sz="2000"/>
            </a:pPr>
            <a:r>
              <a:t>? Speed: SIFT pipeline executes in ~0.16 seconds, enabling real-time stream ingestion.</a:t>
            </a:r>
          </a:p>
          <a:p>
            <a:pPr>
              <a:defRPr sz="2000"/>
            </a:pPr>
            <a:r>
              <a:t>? Scalable Architecture: Fully containerized (Docker) with a Streamlit Control Dashboard for non-technical users.</a:t>
            </a:r>
          </a:p>
          <a:p>
            <a:pPr>
              <a:defRPr sz="2000"/>
            </a:pPr>
            <a:r>
              <a:t>? Feasibility: Evaluated successfully on actual ISRO TMC-2 multi-orbit imagery (e.g. orbit 3922 vs 3943).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