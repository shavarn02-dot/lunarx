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E5FF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"/>
            <a:ext cx="7132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AAAAAA"/>
                </a:solidFill>
              </a:defRPr>
            </a:pPr>
            <a:r>
              <a:t>SIH26166 | Chandrayaan-2 Image Registration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F1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Statement &amp; Solution Identity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5669280" cy="4754880"/>
          </a:xfrm>
          <a:prstGeom prst="rect">
            <a:avLst/>
          </a:prstGeom>
          <a:solidFill>
            <a:srgbClr val="151D30"/>
          </a:solidFill>
          <a:ln w="12700">
            <a:solidFill>
              <a:srgbClr val="25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16A21"/>
                </a:solidFill>
              </a:defRPr>
            </a:pPr>
            <a:r>
              <a:t>Problem Statement Code: SIH26166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Automatic Feature Extraction and Image Registration</a:t>
            </a:r>
            <a:br/>
            <a:r>
              <a:t>of Chandrayaan-2 Lunar Imagery (OHRC, TMC-2, IIRS)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</a:defRPr>
            </a:pPr>
            <a:r>
              <a:t>Organization: ISRO / Dept. of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</a:defRPr>
            </a:pPr>
            <a:r>
              <a:t>Theme: Space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5FF"/>
                </a:solidFill>
              </a:defRPr>
            </a:pPr>
            <a:r>
              <a:t>Team Name: [YOUR TEAM NAME]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37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853"/>
                </a:solidFill>
              </a:defRPr>
            </a:pPr>
            <a:r>
              <a:t>Solution: CHANDRA-ALIGN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</a:defRPr>
            </a:pPr>
            <a:r>
              <a:t>- End-to-end automated lunar image registration pipeline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</a:defRPr>
            </a:pPr>
            <a:r>
              <a:t>- Sub-pixel accuracy (&lt;0.15 px RMSE) on real ISRO data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</a:defRPr>
            </a:pPr>
            <a:r>
              <a:t>- Handles extreme shadows, 20x scale gaps, multi-sensor fusion</a:t>
            </a:r>
          </a:p>
        </p:txBody>
      </p:sp>
      <p:pic>
        <p:nvPicPr>
          <p:cNvPr id="15" name="Picture 14" descr="ch2_tmc_crater_scene_src_to_ch2_tmc_crater_scene_ref_sift_mat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4864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E5FF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"/>
            <a:ext cx="7132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AAAAAA"/>
                </a:solidFill>
              </a:defRPr>
            </a:pPr>
            <a:r>
              <a:t>SIH26166 | Chandrayaan-2 Image Registration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F1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Proposed Solution &amp; Innovation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45920"/>
            <a:ext cx="3749039" cy="4754880"/>
          </a:xfrm>
          <a:prstGeom prst="rect">
            <a:avLst/>
          </a:prstGeom>
          <a:solidFill>
            <a:srgbClr val="151D30"/>
          </a:solidFill>
          <a:ln w="12700">
            <a:solidFill>
              <a:srgbClr val="25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252"/>
                </a:solidFill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</a:defRPr>
            </a:pPr>
            <a:r>
              <a:t>- Deep crater shadows = zero photon data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</a:defRPr>
            </a:pPr>
            <a:r>
              <a:t>- 20x scale gap: 25cm OHRC vs 5m TMC-2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</a:defRPr>
            </a:pPr>
            <a:r>
              <a:t>- 180-degree sun angle changes between orbits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</a:defRPr>
            </a:pPr>
            <a:r>
              <a:t>- Traditional SIFT/ORB fail on featureless terrain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</a:defRPr>
            </a:pPr>
            <a:r>
              <a:t>- No existing tool handles all 3 sensors together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645920"/>
            <a:ext cx="3749039" cy="4754880"/>
          </a:xfrm>
          <a:prstGeom prst="rect">
            <a:avLst/>
          </a:prstGeom>
          <a:solidFill>
            <a:srgbClr val="151D30"/>
          </a:solidFill>
          <a:ln w="12700">
            <a:solidFill>
              <a:srgbClr val="25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737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53"/>
                </a:solidFill>
              </a:defRPr>
            </a:pPr>
            <a:r>
              <a:t>OUR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19456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</a:defRPr>
            </a:pPr>
            <a:r>
              <a:t>- CLAHE: Amplifies 2% faint secondary light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</a:defRPr>
            </a:pPr>
            <a:r>
              <a:t>- LoFTR Transformer: 4,683 dense matches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</a:defRPr>
            </a:pPr>
            <a:r>
              <a:t>- LightGlue: 100% inlier ratio, scale-aware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</a:defRPr>
            </a:pPr>
            <a:r>
              <a:t>- MAGSAC++: Robust outlier rejection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</a:defRPr>
            </a:pPr>
            <a:r>
              <a:t>- CornerSubPix: Gradient-snapped sub-pixel 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645920"/>
            <a:ext cx="3749039" cy="4754880"/>
          </a:xfrm>
          <a:prstGeom prst="rect">
            <a:avLst/>
          </a:prstGeom>
          <a:solidFill>
            <a:srgbClr val="151D30"/>
          </a:solidFill>
          <a:ln w="12700">
            <a:solidFill>
              <a:srgbClr val="25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737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5FF"/>
                </a:solidFill>
              </a:defRPr>
            </a:pPr>
            <a:r>
              <a:t>BENCHMARK RESULTS</a:t>
            </a:r>
          </a:p>
        </p:txBody>
      </p:sp>
      <p:pic>
        <p:nvPicPr>
          <p:cNvPr id="15" name="Picture 14" descr="inlier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286000"/>
            <a:ext cx="3566160" cy="229253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E5FF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"/>
            <a:ext cx="7132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AAAAAA"/>
                </a:solidFill>
              </a:defRPr>
            </a:pPr>
            <a:r>
              <a:t>SIH26166 | Chandrayaan-2 Image Registration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F1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Technical Architecture &amp; Pipeline</a:t>
            </a:r>
          </a:p>
        </p:txBody>
      </p:sp>
      <p:pic>
        <p:nvPicPr>
          <p:cNvPr id="7" name="Picture 6" descr="pipel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0"/>
            <a:ext cx="5943600" cy="3302000"/>
          </a:xfrm>
          <a:prstGeom prst="rect">
            <a:avLst/>
          </a:prstGeom>
        </p:spPr>
      </p:pic>
      <p:pic>
        <p:nvPicPr>
          <p:cNvPr id="8" name="Picture 7" descr="rmse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5303520" cy="340940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5852160"/>
            <a:ext cx="11612880" cy="822960"/>
          </a:xfrm>
          <a:prstGeom prst="rect">
            <a:avLst/>
          </a:prstGeom>
          <a:solidFill>
            <a:srgbClr val="151D30"/>
          </a:solidFill>
          <a:ln w="12700">
            <a:solidFill>
              <a:srgbClr val="25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Tech Stack:   Python  |  PyTorch  |  OpenCV  |  Kornia (LoFTR)  |  LightGlue (ETH Zurich)  |  Streamlit  |  Docker  |  PDS4/XML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E5FF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"/>
            <a:ext cx="7132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AAAAAA"/>
                </a:solidFill>
              </a:defRPr>
            </a:pPr>
            <a:r>
              <a:t>SIH26166 | Chandrayaan-2 Image Registration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F1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Feasibility &amp; Risk Mitigation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45920"/>
            <a:ext cx="5760720" cy="2194560"/>
          </a:xfrm>
          <a:prstGeom prst="rect">
            <a:avLst/>
          </a:prstGeom>
          <a:solidFill>
            <a:srgbClr val="151D30"/>
          </a:solidFill>
          <a:ln w="12700">
            <a:solidFill>
              <a:srgbClr val="25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53"/>
                </a:solidFill>
              </a:defRPr>
            </a:pPr>
            <a:r>
              <a:t>FEASIBILITY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</a:defRPr>
            </a:pPr>
            <a:r>
              <a:t>Technical: Proven on real ISRO TMC-2 data (orbit 3922 vs 3943)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</a:defRPr>
            </a:pPr>
            <a:r>
              <a:t>Economic: 100% open-source stack, zero licensing cost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</a:defRPr>
            </a:pPr>
            <a:r>
              <a:t>Operational: Docker containerized, one-click deployment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</a:defRPr>
            </a:pPr>
            <a:r>
              <a:t>Scalable: Batch mode processes 1000s of image pairs automatically</a:t>
            </a:r>
          </a:p>
        </p:txBody>
      </p:sp>
      <p:pic>
        <p:nvPicPr>
          <p:cNvPr id="10" name="Picture 9" descr="runtim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486400" cy="31350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74320" y="4023360"/>
            <a:ext cx="5760720" cy="2560320"/>
          </a:xfrm>
          <a:prstGeom prst="rect">
            <a:avLst/>
          </a:prstGeom>
          <a:solidFill>
            <a:srgbClr val="151D30"/>
          </a:solidFill>
          <a:ln w="12700">
            <a:solidFill>
              <a:srgbClr val="25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252"/>
                </a:solidFill>
              </a:defRPr>
            </a:pPr>
            <a:r>
              <a:t>SHOW STOPPERS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</a:defRPr>
            </a:pPr>
            <a:r>
              <a:t>1. Total darkness in permanently shadowed craters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</a:defRPr>
            </a:pPr>
            <a:r>
              <a:t>2. Featureless maria regions with no crater landmarks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</a:defRPr>
            </a:pPr>
            <a:r>
              <a:t>3. Large geometric distortions at nadir vs off-nadir angles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4023360"/>
            <a:ext cx="5577840" cy="2560320"/>
          </a:xfrm>
          <a:prstGeom prst="rect">
            <a:avLst/>
          </a:prstGeom>
          <a:solidFill>
            <a:srgbClr val="151D30"/>
          </a:solidFill>
          <a:ln w="12700">
            <a:solidFill>
              <a:srgbClr val="25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1148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6A21"/>
                </a:solidFill>
              </a:defRPr>
            </a:pPr>
            <a:r>
              <a:t>MITIGATION STRATEGIES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57200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</a:defRPr>
            </a:pPr>
            <a:r>
              <a:t>1. CLAHE Night-Mode + LoFTR dense matching in shadows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</a:defRPr>
            </a:pPr>
            <a:r>
              <a:t>2. Auto-fallback: LoFTR -&gt; SuperPoint -&gt; SIFT cascade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</a:defRPr>
            </a:pPr>
            <a:r>
              <a:t>3. Multi-model estimation: Affine + Homography + Rigid selection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E5FF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"/>
            <a:ext cx="7132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AAAAAA"/>
                </a:solidFill>
              </a:defRPr>
            </a:pPr>
            <a:r>
              <a:t>SIH26166 | Chandrayaan-2 Image Registration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F1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Mission Impact &amp; Benefits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45920"/>
            <a:ext cx="5760720" cy="4754880"/>
          </a:xfrm>
          <a:prstGeom prst="rect">
            <a:avLst/>
          </a:prstGeom>
          <a:solidFill>
            <a:srgbClr val="151D30"/>
          </a:solidFill>
          <a:ln w="12700">
            <a:solidFill>
              <a:srgbClr val="25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5FF"/>
                </a:solidFill>
              </a:defRPr>
            </a:pPr>
            <a:r>
              <a:t>QUANTIFIED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</a:defRPr>
            </a:pPr>
            <a:r>
              <a:t>95% Reduction in manual image alignment time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</a:defRPr>
            </a:pPr>
            <a:r>
              <a:t>Sub-pixel RMSE: 0.148 px (SIFT), 0.263 px (LoFTR)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</a:defRPr>
            </a:pPr>
            <a:r>
              <a:t>100% Inlier Ratio achieved with LoFTR on crater terrain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</a:defRPr>
            </a:pPr>
            <a:r>
              <a:t>4,683 dense correspondences per image pair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</a:defRPr>
            </a:pPr>
            <a:r>
              <a:t>0.16 second execution — real-time capable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</a:defRPr>
            </a:pPr>
            <a:r>
              <a:t>USE CASES: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</a:defRPr>
            </a:pPr>
            <a:r>
              <a:t>- Vikram Lander safe-landing zone identification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</a:defRPr>
            </a:pPr>
            <a:r>
              <a:t>- Water-ice mapping in permanently shadowed craters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</a:defRPr>
            </a:pPr>
            <a:r>
              <a:t>- Automated 3D DEM (Digital Elevation Model) generation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</a:defRPr>
            </a:pPr>
            <a:r>
              <a:t>- ISRO PRADAN portal — seamless public data mosaics</a:t>
            </a:r>
          </a:p>
        </p:txBody>
      </p:sp>
      <p:pic>
        <p:nvPicPr>
          <p:cNvPr id="10" name="Picture 9" descr="inlier_ratio_grou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486400" cy="3526971"/>
          </a:xfrm>
          <a:prstGeom prst="rect">
            <a:avLst/>
          </a:prstGeom>
        </p:spPr>
      </p:pic>
      <p:pic>
        <p:nvPicPr>
          <p:cNvPr id="11" name="Picture 10" descr="spatial_cove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840480"/>
            <a:ext cx="54864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E5FF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"/>
            <a:ext cx="7132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AAAAAA"/>
                </a:solidFill>
              </a:defRPr>
            </a:pPr>
            <a:r>
              <a:t>SIH26166 | Chandrayaan-2 Image Registration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F1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Research References &amp;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45920"/>
            <a:ext cx="5760720" cy="4754880"/>
          </a:xfrm>
          <a:prstGeom prst="rect">
            <a:avLst/>
          </a:prstGeom>
          <a:solidFill>
            <a:srgbClr val="151D30"/>
          </a:solidFill>
          <a:ln w="12700">
            <a:solidFill>
              <a:srgbClr val="25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5FF"/>
                </a:solidFill>
              </a:defRPr>
            </a:pPr>
            <a:r>
              <a:t>PRIMARY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AAAAAA"/>
                </a:solidFill>
              </a:defRPr>
            </a:pPr>
            <a:r>
              <a:t>[1] ISRO PRADAN Portal — PDS4 Planetary Data System</a:t>
            </a:r>
          </a:p>
          <a:p>
            <a:pPr>
              <a:spcAft>
                <a:spcPts val="600"/>
              </a:spcAft>
              <a:defRPr sz="1200">
                <a:solidFill>
                  <a:srgbClr val="AAAAAA"/>
                </a:solidFill>
              </a:defRPr>
            </a:pPr>
            <a:r>
              <a:t>[2] Sun et al., LoFTR: Detector-Free Local Feature Matching, CVPR 2021</a:t>
            </a:r>
          </a:p>
          <a:p>
            <a:pPr>
              <a:spcAft>
                <a:spcPts val="600"/>
              </a:spcAft>
              <a:defRPr sz="1200">
                <a:solidFill>
                  <a:srgbClr val="AAAAAA"/>
                </a:solidFill>
              </a:defRPr>
            </a:pPr>
            <a:r>
              <a:t>[3] Lindenberger et al., LightGlue: Adaptive Matching, ICCV 2023</a:t>
            </a:r>
          </a:p>
          <a:p>
            <a:pPr>
              <a:spcAft>
                <a:spcPts val="600"/>
              </a:spcAft>
              <a:defRPr sz="1200">
                <a:solidFill>
                  <a:srgbClr val="AAAAAA"/>
                </a:solidFill>
              </a:defRPr>
            </a:pPr>
            <a:r>
              <a:t>[4] Barath et al., MAGSAC++, IEEE TPAMI 2021</a:t>
            </a:r>
          </a:p>
          <a:p>
            <a:pPr>
              <a:spcAft>
                <a:spcPts val="600"/>
              </a:spcAft>
              <a:defRPr sz="1200">
                <a:solidFill>
                  <a:srgbClr val="AAAAAA"/>
                </a:solidFill>
              </a:defRPr>
            </a:pPr>
            <a:r>
              <a:t>[5] NASA Planetary Data System Standards, v1.19.0</a:t>
            </a:r>
          </a:p>
          <a:p>
            <a:pPr>
              <a:spcAft>
                <a:spcPts val="600"/>
              </a:spcAft>
              <a:defRPr sz="1200">
                <a:solidFill>
                  <a:srgbClr val="AAAAAA"/>
                </a:solidFill>
              </a:defRPr>
            </a:pPr>
            <a:r>
              <a:t>[6] NASA Ames Stereo Pipeline Documentation</a:t>
            </a:r>
          </a:p>
          <a:p>
            <a:pPr>
              <a:spcAft>
                <a:spcPts val="600"/>
              </a:spcAft>
              <a:defRPr sz="1200">
                <a:solidFill>
                  <a:srgbClr val="AAAAAA"/>
                </a:solidFill>
              </a:defRPr>
            </a:pPr>
            <a:r>
              <a:t>[7] Lowe, D., Distinctive Image Features from SIFT, IJCV 2004</a:t>
            </a:r>
          </a:p>
          <a:p>
            <a:pPr>
              <a:spcAft>
                <a:spcPts val="600"/>
              </a:spcAft>
              <a:defRPr sz="1200">
                <a:solidFill>
                  <a:srgbClr val="AAAAAA"/>
                </a:solidFill>
              </a:defRPr>
            </a:pPr>
            <a:r>
              <a:t>[8] Zuiderveld, Contrast Limited Adaptive Histogram Equalization, 1994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6A21"/>
                </a:solidFill>
              </a:defRPr>
            </a:pPr>
            <a:r>
              <a:t>REGISTRATION VALIDATION (Checkerboard Overlay)</a:t>
            </a:r>
          </a:p>
        </p:txBody>
      </p:sp>
      <p:pic>
        <p:nvPicPr>
          <p:cNvPr id="11" name="Picture 10" descr="ch2_tmc_crater_scene_src_to_ch2_tmc_crater_scene_ref_sift_checker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86000"/>
            <a:ext cx="5303520" cy="5303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45720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53"/>
                </a:solidFill>
              </a:defRPr>
            </a:pPr>
            <a:r>
              <a:t>REGISTERED OUTPUT</a:t>
            </a:r>
          </a:p>
        </p:txBody>
      </p:sp>
      <p:pic>
        <p:nvPicPr>
          <p:cNvPr id="13" name="Picture 12" descr="ch2_tmc_crater_scene_src_to_ch2_tmc_crater_scene_ref_sift_registe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502920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