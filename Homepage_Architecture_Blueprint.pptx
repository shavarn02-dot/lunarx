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10362895" cy="4297680"/>
          </a:xfrm>
          <a:prstGeom prst="roundRect">
            <a:avLst/>
          </a:prstGeom>
          <a:solidFill>
            <a:srgbClr val="223062"/>
          </a:solidFill>
          <a:ln w="19050">
            <a:solidFill>
              <a:srgbClr val="3C5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463040"/>
            <a:ext cx="9631375" cy="3566160"/>
          </a:xfrm>
          <a:prstGeom prst="rect">
            <a:avLst/>
          </a:prstGeom>
          <a:noFill/>
        </p:spPr>
        <p:txBody>
          <a:bodyPr wrap="square">
            <a:spAutoFit/>
          </a:bodyPr>
          <a:lstStyle/>
          <a:p>
            <a:r>
              <a:rPr sz="3600" b="1">
                <a:solidFill>
                  <a:srgbClr val="FFFFFF"/>
                </a:solidFill>
                <a:latin typeface="Times New Roman"/>
              </a:rPr>
              <a:t>AGENT ARCHITECTURE BLUEPRINT</a:t>
            </a:r>
          </a:p>
          <a:p>
            <a:pPr>
              <a:spcBef>
                <a:spcPts val="1400"/>
              </a:spcBef>
            </a:pPr>
            <a:r>
              <a:rPr sz="1800">
                <a:solidFill>
                  <a:srgbClr val="C8D6EB"/>
                </a:solidFill>
                <a:latin typeface="Times New Roman"/>
              </a:rPr>
              <a:t>Reference presentation template — one deck (or section) per agent</a:t>
            </a:r>
          </a:p>
          <a:p>
            <a:pPr>
              <a:spcBef>
                <a:spcPts val="1200"/>
              </a:spcBef>
            </a:pPr>
            <a:r>
              <a:rPr sz="1400" i="1">
                <a:solidFill>
                  <a:srgbClr val="C8D6EB"/>
                </a:solidFill>
                <a:latin typeface="Times New Roman"/>
              </a:rPr>
              <a:t>Fill in each slide for the agent you own. Keep it tight — this is meant to make every agent comparable so we can agree on one standard playbook.</a:t>
            </a:r>
          </a:p>
          <a:p>
            <a:pPr>
              <a:spcBef>
                <a:spcPts val="2000"/>
              </a:spcBef>
            </a:pPr>
            <a:r>
              <a:rPr b="1" sz="1600">
                <a:solidFill>
                  <a:srgbClr val="00D2FF"/>
                </a:solidFill>
                <a:latin typeface="Times New Roman"/>
              </a:rPr>
              <a:t>Specific Agent Under Review: </a:t>
            </a:r>
            <a:r>
              <a:rPr b="1" sz="1600">
                <a:solidFill>
                  <a:srgbClr val="FFFFFF"/>
                </a:solidFill>
                <a:latin typeface="Times New Roman"/>
              </a:rPr>
              <a:t>Home Page &amp; Core Registration Console (Lunar-X Chandrayaan-2)</a:t>
            </a:r>
          </a:p>
        </p:txBody>
      </p:sp>
      <p:sp>
        <p:nvSpPr>
          <p:cNvPr id="5" name="TextBox 4"/>
          <p:cNvSpPr txBox="1"/>
          <p:nvPr/>
        </p:nvSpPr>
        <p:spPr>
          <a:xfrm>
            <a:off x="914400" y="5623560"/>
            <a:ext cx="10362895" cy="548640"/>
          </a:xfrm>
          <a:prstGeom prst="rect">
            <a:avLst/>
          </a:prstGeom>
          <a:noFill/>
        </p:spPr>
        <p:txBody>
          <a:bodyPr wrap="none">
            <a:spAutoFit/>
          </a:bodyPr>
          <a:lstStyle/>
          <a:p>
            <a:r>
              <a:rPr sz="1300" b="1">
                <a:solidFill>
                  <a:srgbClr val="FFFFFF"/>
                </a:solidFill>
                <a:latin typeface="Times New Roman"/>
              </a:rPr>
              <a:t>Agent: </a:t>
            </a:r>
            <a:r>
              <a:rPr sz="1300">
                <a:solidFill>
                  <a:srgbClr val="C8D6EB"/>
                </a:solidFill>
                <a:latin typeface="Times New Roman"/>
              </a:rPr>
              <a:t>Lunar-X Mission Console    </a:t>
            </a:r>
            <a:r>
              <a:rPr sz="1300" b="1">
                <a:solidFill>
                  <a:srgbClr val="FFFFFF"/>
                </a:solidFill>
                <a:latin typeface="Times New Roman"/>
              </a:rPr>
              <a:t>Owner: </a:t>
            </a:r>
            <a:r>
              <a:rPr sz="1300">
                <a:solidFill>
                  <a:srgbClr val="C8D6EB"/>
                </a:solidFill>
                <a:latin typeface="Times New Roman"/>
              </a:rPr>
              <a:t>Team Lunar X (SIH 2026 - PS 26166)    </a:t>
            </a:r>
            <a:r>
              <a:rPr sz="1300" b="1">
                <a:solidFill>
                  <a:srgbClr val="FFFFFF"/>
                </a:solidFill>
                <a:latin typeface="Times New Roman"/>
              </a:rPr>
              <a:t>Date: </a:t>
            </a:r>
            <a:r>
              <a:rPr sz="1300">
                <a:solidFill>
                  <a:srgbClr val="C8D6EB"/>
                </a:solidFill>
                <a:latin typeface="Times New Roman"/>
              </a:rPr>
              <a:t>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94360" cy="59436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Times New Roman"/>
              </a:rPr>
              <a:t>i</a:t>
            </a:r>
          </a:p>
        </p:txBody>
      </p:sp>
      <p:sp>
        <p:nvSpPr>
          <p:cNvPr id="4" name="TextBox 3"/>
          <p:cNvSpPr txBox="1"/>
          <p:nvPr/>
        </p:nvSpPr>
        <p:spPr>
          <a:xfrm>
            <a:off x="1463040" y="347472"/>
            <a:ext cx="10058400" cy="384048"/>
          </a:xfrm>
          <a:prstGeom prst="rect">
            <a:avLst/>
          </a:prstGeom>
          <a:noFill/>
        </p:spPr>
        <p:txBody>
          <a:bodyPr wrap="square">
            <a:spAutoFit/>
          </a:bodyPr>
          <a:lstStyle/>
          <a:p>
            <a:r>
              <a:rPr sz="2500" b="1">
                <a:solidFill>
                  <a:srgbClr val="141C38"/>
                </a:solidFill>
                <a:latin typeface="Times New Roman"/>
              </a:rPr>
              <a:t>What to cover</a:t>
            </a:r>
          </a:p>
        </p:txBody>
      </p:sp>
      <p:sp>
        <p:nvSpPr>
          <p:cNvPr id="5" name="TextBox 4"/>
          <p:cNvSpPr txBox="1"/>
          <p:nvPr/>
        </p:nvSpPr>
        <p:spPr>
          <a:xfrm>
            <a:off x="731520" y="6446520"/>
            <a:ext cx="9144000" cy="320040"/>
          </a:xfrm>
          <a:prstGeom prst="rect">
            <a:avLst/>
          </a:prstGeom>
          <a:noFill/>
        </p:spPr>
        <p:txBody>
          <a:bodyPr wrap="none">
            <a:spAutoFit/>
          </a:bodyPr>
          <a:lstStyle/>
          <a:p>
            <a:r>
              <a:rPr sz="1100">
                <a:solidFill>
                  <a:srgbClr val="94A3B8"/>
                </a:solidFill>
                <a:latin typeface="Times New Roman"/>
              </a:rPr>
              <a:t>Agent Architecture Blueprint · fill in for your agent (Lunar-X Home Page)</a:t>
            </a:r>
          </a:p>
        </p:txBody>
      </p:sp>
      <p:sp>
        <p:nvSpPr>
          <p:cNvPr id="6" name="TextBox 5"/>
          <p:cNvSpPr txBox="1"/>
          <p:nvPr/>
        </p:nvSpPr>
        <p:spPr>
          <a:xfrm>
            <a:off x="10972800" y="6446520"/>
            <a:ext cx="731520" cy="320040"/>
          </a:xfrm>
          <a:prstGeom prst="rect">
            <a:avLst/>
          </a:prstGeom>
          <a:noFill/>
        </p:spPr>
        <p:txBody>
          <a:bodyPr wrap="none">
            <a:spAutoFit/>
          </a:bodyPr>
          <a:lstStyle/>
          <a:p>
            <a:pPr algn="r"/>
            <a:r>
              <a:rPr sz="1100">
                <a:solidFill>
                  <a:srgbClr val="94A3B8"/>
                </a:solidFill>
                <a:latin typeface="Times New Roman"/>
              </a:rPr>
              <a:t>2</a:t>
            </a:r>
          </a:p>
        </p:txBody>
      </p:sp>
      <p:sp>
        <p:nvSpPr>
          <p:cNvPr id="7" name="Rounded Rectangle 6"/>
          <p:cNvSpPr/>
          <p:nvPr/>
        </p:nvSpPr>
        <p:spPr>
          <a:xfrm>
            <a:off x="731520" y="1417320"/>
            <a:ext cx="3383280" cy="1078992"/>
          </a:xfrm>
          <a:prstGeom prst="roundRect">
            <a:avLst/>
          </a:prstGeom>
          <a:solidFill>
            <a:srgbClr val="FFFFFF"/>
          </a:solidFill>
          <a:ln w="1397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77824" y="1636776"/>
            <a:ext cx="411480" cy="41148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Times New Roman"/>
              </a:rPr>
              <a:t>1</a:t>
            </a:r>
          </a:p>
        </p:txBody>
      </p:sp>
      <p:sp>
        <p:nvSpPr>
          <p:cNvPr id="9" name="TextBox 8"/>
          <p:cNvSpPr txBox="1"/>
          <p:nvPr/>
        </p:nvSpPr>
        <p:spPr>
          <a:xfrm>
            <a:off x="1389888" y="1527048"/>
            <a:ext cx="2633472" cy="859536"/>
          </a:xfrm>
          <a:prstGeom prst="rect">
            <a:avLst/>
          </a:prstGeom>
          <a:noFill/>
        </p:spPr>
        <p:txBody>
          <a:bodyPr wrap="square">
            <a:spAutoFit/>
          </a:bodyPr>
          <a:lstStyle/>
          <a:p>
            <a:r>
              <a:rPr sz="1500" b="1">
                <a:solidFill>
                  <a:srgbClr val="141C38"/>
                </a:solidFill>
                <a:latin typeface="Times New Roman"/>
              </a:rPr>
              <a:t>Purpose &amp; Scope</a:t>
            </a:r>
          </a:p>
          <a:p>
            <a:r>
              <a:rPr sz="1150">
                <a:solidFill>
                  <a:srgbClr val="64748B"/>
                </a:solidFill>
                <a:latin typeface="Times New Roman"/>
              </a:rPr>
              <a:t>What the home page does, who it's for</a:t>
            </a:r>
          </a:p>
        </p:txBody>
      </p:sp>
      <p:sp>
        <p:nvSpPr>
          <p:cNvPr id="10" name="Rounded Rectangle 9"/>
          <p:cNvSpPr/>
          <p:nvPr/>
        </p:nvSpPr>
        <p:spPr>
          <a:xfrm>
            <a:off x="4434840" y="1417320"/>
            <a:ext cx="3383280" cy="1078992"/>
          </a:xfrm>
          <a:prstGeom prst="roundRect">
            <a:avLst/>
          </a:prstGeom>
          <a:solidFill>
            <a:srgbClr val="FFFFFF"/>
          </a:solidFill>
          <a:ln w="1397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81144" y="1636776"/>
            <a:ext cx="411480" cy="41148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Times New Roman"/>
              </a:rPr>
              <a:t>2</a:t>
            </a:r>
          </a:p>
        </p:txBody>
      </p:sp>
      <p:sp>
        <p:nvSpPr>
          <p:cNvPr id="12" name="TextBox 11"/>
          <p:cNvSpPr txBox="1"/>
          <p:nvPr/>
        </p:nvSpPr>
        <p:spPr>
          <a:xfrm>
            <a:off x="5093208" y="1527048"/>
            <a:ext cx="2633472" cy="859536"/>
          </a:xfrm>
          <a:prstGeom prst="rect">
            <a:avLst/>
          </a:prstGeom>
          <a:noFill/>
        </p:spPr>
        <p:txBody>
          <a:bodyPr wrap="square">
            <a:spAutoFit/>
          </a:bodyPr>
          <a:lstStyle/>
          <a:p>
            <a:r>
              <a:rPr sz="1500" b="1">
                <a:solidFill>
                  <a:srgbClr val="141C38"/>
                </a:solidFill>
                <a:latin typeface="Times New Roman"/>
              </a:rPr>
              <a:t>System Design</a:t>
            </a:r>
          </a:p>
          <a:p>
            <a:r>
              <a:rPr sz="1150">
                <a:solidFill>
                  <a:srgbClr val="64748B"/>
                </a:solidFill>
                <a:latin typeface="Times New Roman"/>
              </a:rPr>
              <a:t>Top-level architecture in the ecosystem</a:t>
            </a:r>
          </a:p>
        </p:txBody>
      </p:sp>
      <p:sp>
        <p:nvSpPr>
          <p:cNvPr id="13" name="Rounded Rectangle 12"/>
          <p:cNvSpPr/>
          <p:nvPr/>
        </p:nvSpPr>
        <p:spPr>
          <a:xfrm>
            <a:off x="8138160" y="1417320"/>
            <a:ext cx="3383280" cy="1078992"/>
          </a:xfrm>
          <a:prstGeom prst="roundRect">
            <a:avLst/>
          </a:prstGeom>
          <a:solidFill>
            <a:srgbClr val="FFFFFF"/>
          </a:solidFill>
          <a:ln w="1397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84464" y="1636776"/>
            <a:ext cx="411480" cy="41148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Times New Roman"/>
              </a:rPr>
              <a:t>3</a:t>
            </a:r>
          </a:p>
        </p:txBody>
      </p:sp>
      <p:sp>
        <p:nvSpPr>
          <p:cNvPr id="15" name="TextBox 14"/>
          <p:cNvSpPr txBox="1"/>
          <p:nvPr/>
        </p:nvSpPr>
        <p:spPr>
          <a:xfrm>
            <a:off x="8796528" y="1527048"/>
            <a:ext cx="2633472" cy="859536"/>
          </a:xfrm>
          <a:prstGeom prst="rect">
            <a:avLst/>
          </a:prstGeom>
          <a:noFill/>
        </p:spPr>
        <p:txBody>
          <a:bodyPr wrap="square">
            <a:spAutoFit/>
          </a:bodyPr>
          <a:lstStyle/>
          <a:p>
            <a:r>
              <a:rPr sz="1500" b="1">
                <a:solidFill>
                  <a:srgbClr val="141C38"/>
                </a:solidFill>
                <a:latin typeface="Times New Roman"/>
              </a:rPr>
              <a:t>Prompt Design</a:t>
            </a:r>
          </a:p>
          <a:p>
            <a:r>
              <a:rPr sz="1150">
                <a:solidFill>
                  <a:srgbClr val="64748B"/>
                </a:solidFill>
                <a:latin typeface="Times New Roman"/>
              </a:rPr>
              <a:t>Direct JSON config, why text prompts aren't used</a:t>
            </a:r>
          </a:p>
        </p:txBody>
      </p:sp>
      <p:sp>
        <p:nvSpPr>
          <p:cNvPr id="16" name="Rounded Rectangle 15"/>
          <p:cNvSpPr/>
          <p:nvPr/>
        </p:nvSpPr>
        <p:spPr>
          <a:xfrm>
            <a:off x="731520" y="2660904"/>
            <a:ext cx="3383280" cy="1078992"/>
          </a:xfrm>
          <a:prstGeom prst="roundRect">
            <a:avLst/>
          </a:prstGeom>
          <a:solidFill>
            <a:srgbClr val="FFFFFF"/>
          </a:solidFill>
          <a:ln w="1397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77824" y="2880360"/>
            <a:ext cx="411480" cy="41148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Times New Roman"/>
              </a:rPr>
              <a:t>4</a:t>
            </a:r>
          </a:p>
        </p:txBody>
      </p:sp>
      <p:sp>
        <p:nvSpPr>
          <p:cNvPr id="18" name="TextBox 17"/>
          <p:cNvSpPr txBox="1"/>
          <p:nvPr/>
        </p:nvSpPr>
        <p:spPr>
          <a:xfrm>
            <a:off x="1389888" y="2770632"/>
            <a:ext cx="2633472" cy="859536"/>
          </a:xfrm>
          <a:prstGeom prst="rect">
            <a:avLst/>
          </a:prstGeom>
          <a:noFill/>
        </p:spPr>
        <p:txBody>
          <a:bodyPr wrap="square">
            <a:spAutoFit/>
          </a:bodyPr>
          <a:lstStyle/>
          <a:p>
            <a:r>
              <a:rPr sz="1500" b="1">
                <a:solidFill>
                  <a:srgbClr val="141C38"/>
                </a:solidFill>
                <a:latin typeface="Times New Roman"/>
              </a:rPr>
              <a:t>Language Model</a:t>
            </a:r>
          </a:p>
          <a:p>
            <a:r>
              <a:rPr sz="1150">
                <a:solidFill>
                  <a:srgbClr val="64748B"/>
                </a:solidFill>
                <a:latin typeface="Times New Roman"/>
              </a:rPr>
              <a:t>No text LLM; PyTorch deep vision models</a:t>
            </a:r>
          </a:p>
        </p:txBody>
      </p:sp>
      <p:sp>
        <p:nvSpPr>
          <p:cNvPr id="19" name="Rounded Rectangle 18"/>
          <p:cNvSpPr/>
          <p:nvPr/>
        </p:nvSpPr>
        <p:spPr>
          <a:xfrm>
            <a:off x="4434840" y="2660904"/>
            <a:ext cx="3383280" cy="1078992"/>
          </a:xfrm>
          <a:prstGeom prst="roundRect">
            <a:avLst/>
          </a:prstGeom>
          <a:solidFill>
            <a:srgbClr val="FFFFFF"/>
          </a:solidFill>
          <a:ln w="1397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581144" y="2880360"/>
            <a:ext cx="411480" cy="41148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Times New Roman"/>
              </a:rPr>
              <a:t>5</a:t>
            </a:r>
          </a:p>
        </p:txBody>
      </p:sp>
      <p:sp>
        <p:nvSpPr>
          <p:cNvPr id="21" name="TextBox 20"/>
          <p:cNvSpPr txBox="1"/>
          <p:nvPr/>
        </p:nvSpPr>
        <p:spPr>
          <a:xfrm>
            <a:off x="5093208" y="2770632"/>
            <a:ext cx="2633472" cy="859536"/>
          </a:xfrm>
          <a:prstGeom prst="rect">
            <a:avLst/>
          </a:prstGeom>
          <a:noFill/>
        </p:spPr>
        <p:txBody>
          <a:bodyPr wrap="square">
            <a:spAutoFit/>
          </a:bodyPr>
          <a:lstStyle/>
          <a:p>
            <a:r>
              <a:rPr sz="1500" b="1">
                <a:solidFill>
                  <a:srgbClr val="141C38"/>
                </a:solidFill>
                <a:latin typeface="Times New Roman"/>
              </a:rPr>
              <a:t>APIs &amp; Integrations</a:t>
            </a:r>
          </a:p>
          <a:p>
            <a:r>
              <a:rPr sz="1150">
                <a:solidFill>
                  <a:srgbClr val="64748B"/>
                </a:solidFill>
                <a:latin typeface="Times New Roman"/>
              </a:rPr>
              <a:t>FastAPI endpoints, PDS4 parser, OpenCV</a:t>
            </a:r>
          </a:p>
        </p:txBody>
      </p:sp>
      <p:sp>
        <p:nvSpPr>
          <p:cNvPr id="22" name="Rounded Rectangle 21"/>
          <p:cNvSpPr/>
          <p:nvPr/>
        </p:nvSpPr>
        <p:spPr>
          <a:xfrm>
            <a:off x="8138160" y="2660904"/>
            <a:ext cx="3383280" cy="1078992"/>
          </a:xfrm>
          <a:prstGeom prst="roundRect">
            <a:avLst/>
          </a:prstGeom>
          <a:solidFill>
            <a:srgbClr val="FFFFFF"/>
          </a:solidFill>
          <a:ln w="1397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284464" y="2880360"/>
            <a:ext cx="411480" cy="41148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Times New Roman"/>
              </a:rPr>
              <a:t>6</a:t>
            </a:r>
          </a:p>
        </p:txBody>
      </p:sp>
      <p:sp>
        <p:nvSpPr>
          <p:cNvPr id="24" name="TextBox 23"/>
          <p:cNvSpPr txBox="1"/>
          <p:nvPr/>
        </p:nvSpPr>
        <p:spPr>
          <a:xfrm>
            <a:off x="8796528" y="2770632"/>
            <a:ext cx="2633472" cy="859536"/>
          </a:xfrm>
          <a:prstGeom prst="rect">
            <a:avLst/>
          </a:prstGeom>
          <a:noFill/>
        </p:spPr>
        <p:txBody>
          <a:bodyPr wrap="square">
            <a:spAutoFit/>
          </a:bodyPr>
          <a:lstStyle/>
          <a:p>
            <a:r>
              <a:rPr sz="1500" b="1">
                <a:solidFill>
                  <a:srgbClr val="141C38"/>
                </a:solidFill>
                <a:latin typeface="Times New Roman"/>
              </a:rPr>
              <a:t>Retrieval / RAG</a:t>
            </a:r>
          </a:p>
          <a:p>
            <a:r>
              <a:rPr sz="1150">
                <a:solidFill>
                  <a:srgbClr val="64748B"/>
                </a:solidFill>
                <a:latin typeface="Times New Roman"/>
              </a:rPr>
              <a:t>Spatial visual retrieval instead of text RAG</a:t>
            </a:r>
          </a:p>
        </p:txBody>
      </p:sp>
      <p:sp>
        <p:nvSpPr>
          <p:cNvPr id="25" name="Rounded Rectangle 24"/>
          <p:cNvSpPr/>
          <p:nvPr/>
        </p:nvSpPr>
        <p:spPr>
          <a:xfrm>
            <a:off x="731520" y="3904488"/>
            <a:ext cx="3383280" cy="1078992"/>
          </a:xfrm>
          <a:prstGeom prst="roundRect">
            <a:avLst/>
          </a:prstGeom>
          <a:solidFill>
            <a:srgbClr val="FFFFFF"/>
          </a:solidFill>
          <a:ln w="1397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77824" y="4123944"/>
            <a:ext cx="411480" cy="41148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Times New Roman"/>
              </a:rPr>
              <a:t>7</a:t>
            </a:r>
          </a:p>
        </p:txBody>
      </p:sp>
      <p:sp>
        <p:nvSpPr>
          <p:cNvPr id="27" name="TextBox 26"/>
          <p:cNvSpPr txBox="1"/>
          <p:nvPr/>
        </p:nvSpPr>
        <p:spPr>
          <a:xfrm>
            <a:off x="1389888" y="4014216"/>
            <a:ext cx="2633472" cy="859536"/>
          </a:xfrm>
          <a:prstGeom prst="rect">
            <a:avLst/>
          </a:prstGeom>
          <a:noFill/>
        </p:spPr>
        <p:txBody>
          <a:bodyPr wrap="square">
            <a:spAutoFit/>
          </a:bodyPr>
          <a:lstStyle/>
          <a:p>
            <a:r>
              <a:rPr sz="1500" b="1">
                <a:solidFill>
                  <a:srgbClr val="141C38"/>
                </a:solidFill>
                <a:latin typeface="Times New Roman"/>
              </a:rPr>
              <a:t>Data Flow</a:t>
            </a:r>
          </a:p>
          <a:p>
            <a:r>
              <a:rPr sz="1150">
                <a:solidFill>
                  <a:srgbClr val="64748B"/>
                </a:solidFill>
                <a:latin typeface="Times New Roman"/>
              </a:rPr>
              <a:t>Upload to preprocessed to registered GeoTIFF</a:t>
            </a:r>
          </a:p>
        </p:txBody>
      </p:sp>
      <p:sp>
        <p:nvSpPr>
          <p:cNvPr id="28" name="Rounded Rectangle 27"/>
          <p:cNvSpPr/>
          <p:nvPr/>
        </p:nvSpPr>
        <p:spPr>
          <a:xfrm>
            <a:off x="4434840" y="3904488"/>
            <a:ext cx="3383280" cy="1078992"/>
          </a:xfrm>
          <a:prstGeom prst="roundRect">
            <a:avLst/>
          </a:prstGeom>
          <a:solidFill>
            <a:srgbClr val="FFFFFF"/>
          </a:solidFill>
          <a:ln w="1397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581144" y="4123944"/>
            <a:ext cx="411480" cy="41148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Times New Roman"/>
              </a:rPr>
              <a:t>8</a:t>
            </a:r>
          </a:p>
        </p:txBody>
      </p:sp>
      <p:sp>
        <p:nvSpPr>
          <p:cNvPr id="30" name="TextBox 29"/>
          <p:cNvSpPr txBox="1"/>
          <p:nvPr/>
        </p:nvSpPr>
        <p:spPr>
          <a:xfrm>
            <a:off x="5093208" y="4014216"/>
            <a:ext cx="2633472" cy="859536"/>
          </a:xfrm>
          <a:prstGeom prst="rect">
            <a:avLst/>
          </a:prstGeom>
          <a:noFill/>
        </p:spPr>
        <p:txBody>
          <a:bodyPr wrap="square">
            <a:spAutoFit/>
          </a:bodyPr>
          <a:lstStyle/>
          <a:p>
            <a:r>
              <a:rPr sz="1500" b="1">
                <a:solidFill>
                  <a:srgbClr val="141C38"/>
                </a:solidFill>
                <a:latin typeface="Times New Roman"/>
              </a:rPr>
              <a:t>Storage &amp; State</a:t>
            </a:r>
          </a:p>
          <a:p>
            <a:r>
              <a:rPr sz="1150">
                <a:solidFill>
                  <a:srgbClr val="64748B"/>
                </a:solidFill>
                <a:latin typeface="Times New Roman"/>
              </a:rPr>
              <a:t>Transformation matrices, rasters, JSON metrics</a:t>
            </a:r>
          </a:p>
        </p:txBody>
      </p:sp>
      <p:sp>
        <p:nvSpPr>
          <p:cNvPr id="31" name="Rounded Rectangle 30"/>
          <p:cNvSpPr/>
          <p:nvPr/>
        </p:nvSpPr>
        <p:spPr>
          <a:xfrm>
            <a:off x="8138160" y="3904488"/>
            <a:ext cx="3383280" cy="1078992"/>
          </a:xfrm>
          <a:prstGeom prst="roundRect">
            <a:avLst/>
          </a:prstGeom>
          <a:solidFill>
            <a:srgbClr val="FFFFFF"/>
          </a:solidFill>
          <a:ln w="1397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84464" y="4123944"/>
            <a:ext cx="411480" cy="41148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Times New Roman"/>
              </a:rPr>
              <a:t>9</a:t>
            </a:r>
          </a:p>
        </p:txBody>
      </p:sp>
      <p:sp>
        <p:nvSpPr>
          <p:cNvPr id="33" name="TextBox 32"/>
          <p:cNvSpPr txBox="1"/>
          <p:nvPr/>
        </p:nvSpPr>
        <p:spPr>
          <a:xfrm>
            <a:off x="8796528" y="4014216"/>
            <a:ext cx="2633472" cy="859536"/>
          </a:xfrm>
          <a:prstGeom prst="rect">
            <a:avLst/>
          </a:prstGeom>
          <a:noFill/>
        </p:spPr>
        <p:txBody>
          <a:bodyPr wrap="square">
            <a:spAutoFit/>
          </a:bodyPr>
          <a:lstStyle/>
          <a:p>
            <a:r>
              <a:rPr sz="1500" b="1">
                <a:solidFill>
                  <a:srgbClr val="141C38"/>
                </a:solidFill>
                <a:latin typeface="Times New Roman"/>
              </a:rPr>
              <a:t>Deployment</a:t>
            </a:r>
          </a:p>
          <a:p>
            <a:r>
              <a:rPr sz="1150">
                <a:solidFill>
                  <a:srgbClr val="64748B"/>
                </a:solidFill>
                <a:latin typeface="Times New Roman"/>
              </a:rPr>
              <a:t>Docker container, CPU readiness, env config</a:t>
            </a:r>
          </a:p>
        </p:txBody>
      </p:sp>
      <p:sp>
        <p:nvSpPr>
          <p:cNvPr id="34" name="Rounded Rectangle 33"/>
          <p:cNvSpPr/>
          <p:nvPr/>
        </p:nvSpPr>
        <p:spPr>
          <a:xfrm>
            <a:off x="731520" y="5148072"/>
            <a:ext cx="3383280" cy="1078992"/>
          </a:xfrm>
          <a:prstGeom prst="roundRect">
            <a:avLst/>
          </a:prstGeom>
          <a:solidFill>
            <a:srgbClr val="FFFFFF"/>
          </a:solidFill>
          <a:ln w="1397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77824" y="5367528"/>
            <a:ext cx="411480" cy="41148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Times New Roman"/>
              </a:rPr>
              <a:t>10</a:t>
            </a:r>
          </a:p>
        </p:txBody>
      </p:sp>
      <p:sp>
        <p:nvSpPr>
          <p:cNvPr id="36" name="TextBox 35"/>
          <p:cNvSpPr txBox="1"/>
          <p:nvPr/>
        </p:nvSpPr>
        <p:spPr>
          <a:xfrm>
            <a:off x="1389888" y="5257800"/>
            <a:ext cx="2633472" cy="859536"/>
          </a:xfrm>
          <a:prstGeom prst="rect">
            <a:avLst/>
          </a:prstGeom>
          <a:noFill/>
        </p:spPr>
        <p:txBody>
          <a:bodyPr wrap="square">
            <a:spAutoFit/>
          </a:bodyPr>
          <a:lstStyle/>
          <a:p>
            <a:r>
              <a:rPr sz="1500" b="1">
                <a:solidFill>
                  <a:srgbClr val="141C38"/>
                </a:solidFill>
                <a:latin typeface="Times New Roman"/>
              </a:rPr>
              <a:t>Compliance</a:t>
            </a:r>
          </a:p>
          <a:p>
            <a:r>
              <a:rPr sz="1150">
                <a:solidFill>
                  <a:srgbClr val="64748B"/>
                </a:solidFill>
                <a:latin typeface="Times New Roman"/>
              </a:rPr>
              <a:t>ISRO PDS4 standard, air-gapped security</a:t>
            </a:r>
          </a:p>
        </p:txBody>
      </p:sp>
      <p:sp>
        <p:nvSpPr>
          <p:cNvPr id="37" name="Rounded Rectangle 36"/>
          <p:cNvSpPr/>
          <p:nvPr/>
        </p:nvSpPr>
        <p:spPr>
          <a:xfrm>
            <a:off x="4434840" y="5148072"/>
            <a:ext cx="3383280" cy="1078992"/>
          </a:xfrm>
          <a:prstGeom prst="roundRect">
            <a:avLst/>
          </a:prstGeom>
          <a:solidFill>
            <a:srgbClr val="FFFFFF"/>
          </a:solidFill>
          <a:ln w="1397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581144" y="5367528"/>
            <a:ext cx="411480" cy="41148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Times New Roman"/>
              </a:rPr>
              <a:t>11</a:t>
            </a:r>
          </a:p>
        </p:txBody>
      </p:sp>
      <p:sp>
        <p:nvSpPr>
          <p:cNvPr id="39" name="TextBox 38"/>
          <p:cNvSpPr txBox="1"/>
          <p:nvPr/>
        </p:nvSpPr>
        <p:spPr>
          <a:xfrm>
            <a:off x="5093208" y="5257800"/>
            <a:ext cx="2633472" cy="859536"/>
          </a:xfrm>
          <a:prstGeom prst="rect">
            <a:avLst/>
          </a:prstGeom>
          <a:noFill/>
        </p:spPr>
        <p:txBody>
          <a:bodyPr wrap="square">
            <a:spAutoFit/>
          </a:bodyPr>
          <a:lstStyle/>
          <a:p>
            <a:r>
              <a:rPr sz="1500" b="1">
                <a:solidFill>
                  <a:srgbClr val="141C38"/>
                </a:solidFill>
                <a:latin typeface="Times New Roman"/>
              </a:rPr>
              <a:t>Gaps, Risks &amp; Open Items</a:t>
            </a:r>
          </a:p>
          <a:p>
            <a:r>
              <a:rPr sz="1150">
                <a:solidFill>
                  <a:srgbClr val="64748B"/>
                </a:solidFill>
                <a:latin typeface="Times New Roman"/>
              </a:rPr>
              <a:t>Shadow reversal, multi-scale, mobile view</a:t>
            </a:r>
          </a:p>
        </p:txBody>
      </p:sp>
      <p:sp>
        <p:nvSpPr>
          <p:cNvPr id="40" name="Rounded Rectangle 39"/>
          <p:cNvSpPr/>
          <p:nvPr/>
        </p:nvSpPr>
        <p:spPr>
          <a:xfrm>
            <a:off x="8138160" y="5148072"/>
            <a:ext cx="3383280" cy="1078992"/>
          </a:xfrm>
          <a:prstGeom prst="roundRect">
            <a:avLst/>
          </a:prstGeom>
          <a:solidFill>
            <a:srgbClr val="FFFFFF"/>
          </a:solidFill>
          <a:ln w="1397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284464" y="5367528"/>
            <a:ext cx="411480" cy="41148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Times New Roman"/>
              </a:rPr>
              <a:t>12</a:t>
            </a:r>
          </a:p>
        </p:txBody>
      </p:sp>
      <p:sp>
        <p:nvSpPr>
          <p:cNvPr id="42" name="TextBox 41"/>
          <p:cNvSpPr txBox="1"/>
          <p:nvPr/>
        </p:nvSpPr>
        <p:spPr>
          <a:xfrm>
            <a:off x="8796528" y="5257800"/>
            <a:ext cx="2633472" cy="859536"/>
          </a:xfrm>
          <a:prstGeom prst="rect">
            <a:avLst/>
          </a:prstGeom>
          <a:noFill/>
        </p:spPr>
        <p:txBody>
          <a:bodyPr wrap="square">
            <a:spAutoFit/>
          </a:bodyPr>
          <a:lstStyle/>
          <a:p>
            <a:r>
              <a:rPr sz="1500" b="1">
                <a:solidFill>
                  <a:srgbClr val="141C38"/>
                </a:solidFill>
                <a:latin typeface="Times New Roman"/>
              </a:rPr>
              <a:t>Deviations</a:t>
            </a:r>
          </a:p>
          <a:p>
            <a:r>
              <a:rPr sz="1150">
                <a:solidFill>
                  <a:srgbClr val="64748B"/>
                </a:solidFill>
                <a:latin typeface="Times New Roman"/>
              </a:rPr>
              <a:t>Why Computer Vision beats LLMs for alignment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94360" cy="59436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Times New Roman"/>
              </a:rPr>
              <a:t>1</a:t>
            </a:r>
          </a:p>
        </p:txBody>
      </p:sp>
      <p:sp>
        <p:nvSpPr>
          <p:cNvPr id="4" name="TextBox 3"/>
          <p:cNvSpPr txBox="1"/>
          <p:nvPr/>
        </p:nvSpPr>
        <p:spPr>
          <a:xfrm>
            <a:off x="1463040" y="347472"/>
            <a:ext cx="10058400" cy="384048"/>
          </a:xfrm>
          <a:prstGeom prst="rect">
            <a:avLst/>
          </a:prstGeom>
          <a:noFill/>
        </p:spPr>
        <p:txBody>
          <a:bodyPr wrap="square">
            <a:spAutoFit/>
          </a:bodyPr>
          <a:lstStyle/>
          <a:p>
            <a:r>
              <a:rPr sz="2500" b="1">
                <a:solidFill>
                  <a:srgbClr val="141C38"/>
                </a:solidFill>
                <a:latin typeface="Times New Roman"/>
              </a:rPr>
              <a:t>Purpose &amp; Scope</a:t>
            </a:r>
          </a:p>
        </p:txBody>
      </p:sp>
      <p:sp>
        <p:nvSpPr>
          <p:cNvPr id="5" name="TextBox 4"/>
          <p:cNvSpPr txBox="1"/>
          <p:nvPr/>
        </p:nvSpPr>
        <p:spPr>
          <a:xfrm>
            <a:off x="731520" y="987552"/>
            <a:ext cx="10789920" cy="292608"/>
          </a:xfrm>
          <a:prstGeom prst="rect">
            <a:avLst/>
          </a:prstGeom>
          <a:noFill/>
        </p:spPr>
        <p:txBody>
          <a:bodyPr wrap="square">
            <a:spAutoFit/>
          </a:bodyPr>
          <a:lstStyle/>
          <a:p>
            <a:r>
              <a:rPr sz="1250" i="1">
                <a:solidFill>
                  <a:srgbClr val="64748B"/>
                </a:solidFill>
                <a:latin typeface="Times New Roman"/>
              </a:rPr>
              <a:t>In one or two sentences: what does this agent do, and who is it for?</a:t>
            </a:r>
          </a:p>
        </p:txBody>
      </p:sp>
      <p:sp>
        <p:nvSpPr>
          <p:cNvPr id="6" name="TextBox 5"/>
          <p:cNvSpPr txBox="1"/>
          <p:nvPr/>
        </p:nvSpPr>
        <p:spPr>
          <a:xfrm>
            <a:off x="731520" y="6446520"/>
            <a:ext cx="9144000" cy="320040"/>
          </a:xfrm>
          <a:prstGeom prst="rect">
            <a:avLst/>
          </a:prstGeom>
          <a:noFill/>
        </p:spPr>
        <p:txBody>
          <a:bodyPr wrap="none">
            <a:spAutoFit/>
          </a:bodyPr>
          <a:lstStyle/>
          <a:p>
            <a:r>
              <a:rPr sz="1100">
                <a:solidFill>
                  <a:srgbClr val="94A3B8"/>
                </a:solidFill>
                <a:latin typeface="Times New Roman"/>
              </a:rPr>
              <a:t>Agent Architecture Blueprint · fill in for your agent (Lunar-X Home Page)</a:t>
            </a:r>
          </a:p>
        </p:txBody>
      </p:sp>
      <p:sp>
        <p:nvSpPr>
          <p:cNvPr id="7" name="TextBox 6"/>
          <p:cNvSpPr txBox="1"/>
          <p:nvPr/>
        </p:nvSpPr>
        <p:spPr>
          <a:xfrm>
            <a:off x="10972800" y="6446520"/>
            <a:ext cx="731520" cy="320040"/>
          </a:xfrm>
          <a:prstGeom prst="rect">
            <a:avLst/>
          </a:prstGeom>
          <a:noFill/>
        </p:spPr>
        <p:txBody>
          <a:bodyPr wrap="none">
            <a:spAutoFit/>
          </a:bodyPr>
          <a:lstStyle/>
          <a:p>
            <a:pPr algn="r"/>
            <a:r>
              <a:rPr sz="1100">
                <a:solidFill>
                  <a:srgbClr val="94A3B8"/>
                </a:solidFill>
                <a:latin typeface="Times New Roman"/>
              </a:rPr>
              <a:t>3</a:t>
            </a:r>
          </a:p>
        </p:txBody>
      </p:sp>
      <p:sp>
        <p:nvSpPr>
          <p:cNvPr id="8" name="Rounded Rectangle 7"/>
          <p:cNvSpPr/>
          <p:nvPr/>
        </p:nvSpPr>
        <p:spPr>
          <a:xfrm>
            <a:off x="731520" y="1325880"/>
            <a:ext cx="10728655" cy="205740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417320"/>
            <a:ext cx="10399471" cy="1874520"/>
          </a:xfrm>
          <a:prstGeom prst="rect">
            <a:avLst/>
          </a:prstGeom>
          <a:noFill/>
        </p:spPr>
        <p:txBody>
          <a:bodyPr wrap="square" tIns="36576" bIns="36576" lIns="109728" rIns="109728">
            <a:spAutoFit/>
          </a:bodyPr>
          <a:lstStyle/>
          <a:p>
            <a:r>
              <a:rPr sz="1500" b="1">
                <a:solidFill>
                  <a:srgbClr val="141C38"/>
                </a:solidFill>
                <a:latin typeface="Times New Roman"/>
              </a:rPr>
              <a:t>What does the Home Page do? (Simple Hindi / English Explanation)</a:t>
            </a:r>
          </a:p>
          <a:p>
            <a:pPr>
              <a:spcAft>
                <a:spcPts val="400"/>
              </a:spcAft>
            </a:pPr>
            <a:r>
              <a:rPr sz="1100" i="1">
                <a:solidFill>
                  <a:srgbClr val="64748B"/>
                </a:solidFill>
                <a:latin typeface="Times New Roman"/>
              </a:rPr>
              <a:t>Chandrayaan-2 multi-sensor lunar image matching mission console</a:t>
            </a:r>
          </a:p>
          <a:p>
            <a:pPr>
              <a:spcBef>
                <a:spcPts val="400"/>
              </a:spcBef>
            </a:pPr>
            <a:r>
              <a:rPr b="1" sz="1300">
                <a:solidFill>
                  <a:srgbClr val="141C38"/>
                </a:solidFill>
                <a:latin typeface="Times New Roman"/>
              </a:rPr>
              <a:t>• Primary Purpose: </a:t>
            </a:r>
            <a:r>
              <a:rPr sz="1200">
                <a:solidFill>
                  <a:srgbClr val="212B3E"/>
                </a:solidFill>
                <a:latin typeface="Times New Roman"/>
              </a:rPr>
              <a:t>Ye Home Page Chandrayaan-2 ke alag-alag cameras (TMC-2, OHRC, IIRS) se li gayi Moon surface ki pictures ko aapas me 100% mathematically accurate match aur align (register) karne ka visual mission dashboard hai.</a:t>
            </a:r>
          </a:p>
          <a:p>
            <a:pPr>
              <a:spcBef>
                <a:spcPts val="400"/>
              </a:spcBef>
            </a:pPr>
            <a:r>
              <a:rPr b="1" sz="1300">
                <a:solidFill>
                  <a:srgbClr val="141C38"/>
                </a:solidFill>
                <a:latin typeface="Times New Roman"/>
              </a:rPr>
              <a:t>• Who is it for: </a:t>
            </a:r>
            <a:r>
              <a:rPr sz="1200">
                <a:solidFill>
                  <a:srgbClr val="212B3E"/>
                </a:solidFill>
                <a:latin typeface="Times New Roman"/>
              </a:rPr>
              <a:t>ISRO mission scientists, planetary researchers, aur GIS experts ke liye hai — jahan unhe complex terminal commands chalane ki jarurat nahi padti. Bas web screen par do images chuno ya upload karo, aur ek click me sub-pixel aligned result aur proof metrics screen par mil jaate hain.</a:t>
            </a:r>
          </a:p>
          <a:p>
            <a:pPr>
              <a:spcBef>
                <a:spcPts val="400"/>
              </a:spcBef>
            </a:pPr>
            <a:r>
              <a:rPr b="1" sz="1300">
                <a:solidFill>
                  <a:srgbClr val="141C38"/>
                </a:solidFill>
                <a:latin typeface="Times New Roman"/>
              </a:rPr>
              <a:t>• Core Philosophy: </a:t>
            </a:r>
            <a:r>
              <a:rPr sz="1200">
                <a:solidFill>
                  <a:srgbClr val="212B3E"/>
                </a:solidFill>
                <a:latin typeface="Times New Roman"/>
              </a:rPr>
              <a:t>Zero confusion, pure transparency. Har alignment run ka real mathematical error (RMSE in pixels), inliers count aur difference heatmap live proof ke roop me samne aata hai — koi black-box guessing nahi.</a:t>
            </a:r>
          </a:p>
        </p:txBody>
      </p:sp>
      <p:sp>
        <p:nvSpPr>
          <p:cNvPr id="10" name="Rounded Rectangle 9"/>
          <p:cNvSpPr/>
          <p:nvPr/>
        </p:nvSpPr>
        <p:spPr>
          <a:xfrm>
            <a:off x="731520" y="3520440"/>
            <a:ext cx="5257800" cy="278892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3611880"/>
            <a:ext cx="4928616" cy="2606040"/>
          </a:xfrm>
          <a:prstGeom prst="rect">
            <a:avLst/>
          </a:prstGeom>
          <a:noFill/>
        </p:spPr>
        <p:txBody>
          <a:bodyPr wrap="square" tIns="36576" bIns="36576" lIns="109728" rIns="109728">
            <a:spAutoFit/>
          </a:bodyPr>
          <a:lstStyle/>
          <a:p>
            <a:r>
              <a:rPr sz="1500" b="1">
                <a:solidFill>
                  <a:srgbClr val="141C38"/>
                </a:solidFill>
                <a:latin typeface="Times New Roman"/>
              </a:rPr>
              <a:t>Key user actions it supports</a:t>
            </a:r>
          </a:p>
          <a:p>
            <a:pPr>
              <a:spcAft>
                <a:spcPts val="400"/>
              </a:spcAft>
            </a:pPr>
            <a:r>
              <a:rPr sz="1100" i="1">
                <a:solidFill>
                  <a:srgbClr val="64748B"/>
                </a:solidFill>
                <a:latin typeface="Times New Roman"/>
              </a:rPr>
              <a:t>What a user can actually click and perform on the Home Page</a:t>
            </a:r>
          </a:p>
          <a:p>
            <a:pPr>
              <a:spcBef>
                <a:spcPts val="300"/>
              </a:spcBef>
            </a:pPr>
            <a:r>
              <a:rPr b="1" sz="1200">
                <a:solidFill>
                  <a:srgbClr val="141C38"/>
                </a:solidFill>
                <a:latin typeface="Times New Roman"/>
              </a:rPr>
              <a:t>✔ Preset Crater Pair Selection: </a:t>
            </a:r>
            <a:r>
              <a:rPr sz="1100">
                <a:solidFill>
                  <a:srgbClr val="212B3E"/>
                </a:solidFill>
                <a:latin typeface="Times New Roman"/>
              </a:rPr>
              <a:t>Real Chandrayaan-2 benchmark pairs (Shackleton crater, sharp rims, terminator shadows) instantly load ho jaate hain.</a:t>
            </a:r>
          </a:p>
          <a:p>
            <a:pPr>
              <a:spcBef>
                <a:spcPts val="300"/>
              </a:spcBef>
            </a:pPr>
            <a:r>
              <a:rPr b="1" sz="1200">
                <a:solidFill>
                  <a:srgbClr val="141C38"/>
                </a:solidFill>
                <a:latin typeface="Times New Roman"/>
              </a:rPr>
              <a:t>✔ Custom Image Upload: </a:t>
            </a:r>
            <a:r>
              <a:rPr sz="1100">
                <a:solidFill>
                  <a:srgbClr val="212B3E"/>
                </a:solidFill>
                <a:latin typeface="Times New Roman"/>
              </a:rPr>
              <a:t>User apne raw orbital GeoTIFF ya PNG images drag-and-drop karke upload kar sakta hai.</a:t>
            </a:r>
          </a:p>
          <a:p>
            <a:pPr>
              <a:spcBef>
                <a:spcPts val="300"/>
              </a:spcBef>
            </a:pPr>
            <a:r>
              <a:rPr b="1" sz="1200">
                <a:solidFill>
                  <a:srgbClr val="141C38"/>
                </a:solidFill>
                <a:latin typeface="Times New Roman"/>
              </a:rPr>
              <a:t>✔ Algorithm &amp; Light Selection: </a:t>
            </a:r>
            <a:r>
              <a:rPr sz="1100">
                <a:solidFill>
                  <a:srgbClr val="212B3E"/>
                </a:solidFill>
                <a:latin typeface="Times New Roman"/>
              </a:rPr>
              <a:t>Fast Classical (SIFT/ORB) ya Deep Transformer (LoFTR/SuperPoint) aur CLAHE enhancement select kar sakte hain.</a:t>
            </a:r>
          </a:p>
          <a:p>
            <a:pPr>
              <a:spcBef>
                <a:spcPts val="300"/>
              </a:spcBef>
            </a:pPr>
            <a:r>
              <a:rPr b="1" sz="1200">
                <a:solidFill>
                  <a:srgbClr val="141C38"/>
                </a:solidFill>
                <a:latin typeface="Times New Roman"/>
              </a:rPr>
              <a:t>✔ Interactive Inspection: </a:t>
            </a:r>
            <a:r>
              <a:rPr sz="1100">
                <a:solidFill>
                  <a:srgbClr val="212B3E"/>
                </a:solidFill>
                <a:latin typeface="Times New Roman"/>
              </a:rPr>
              <a:t>Aligned image ko Matches view, Registered blend, Checkerboard slider, aur Difference heatmap me dekh sakte hain.</a:t>
            </a:r>
          </a:p>
          <a:p>
            <a:pPr>
              <a:spcBef>
                <a:spcPts val="300"/>
              </a:spcBef>
            </a:pPr>
            <a:r>
              <a:rPr b="1" sz="1200">
                <a:solidFill>
                  <a:srgbClr val="141C38"/>
                </a:solidFill>
                <a:latin typeface="Times New Roman"/>
              </a:rPr>
              <a:t>✔ One-Click Mission Export: </a:t>
            </a:r>
            <a:r>
              <a:rPr sz="1100">
                <a:solidFill>
                  <a:srgbClr val="212B3E"/>
                </a:solidFill>
                <a:latin typeface="Times New Roman"/>
              </a:rPr>
              <a:t>Aligned GeoTIFF, PNG overlay, aur quantitative JSON verification report download kar sakte hain.</a:t>
            </a:r>
          </a:p>
        </p:txBody>
      </p:sp>
      <p:sp>
        <p:nvSpPr>
          <p:cNvPr id="12" name="Rounded Rectangle 11"/>
          <p:cNvSpPr/>
          <p:nvPr/>
        </p:nvSpPr>
        <p:spPr>
          <a:xfrm>
            <a:off x="6199632" y="3520440"/>
            <a:ext cx="5257800" cy="278892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64224" y="3611880"/>
            <a:ext cx="4928616" cy="2606040"/>
          </a:xfrm>
          <a:prstGeom prst="rect">
            <a:avLst/>
          </a:prstGeom>
          <a:noFill/>
        </p:spPr>
        <p:txBody>
          <a:bodyPr wrap="square" tIns="36576" bIns="36576" lIns="109728" rIns="109728">
            <a:spAutoFit/>
          </a:bodyPr>
          <a:lstStyle/>
          <a:p>
            <a:r>
              <a:rPr sz="1500" b="1">
                <a:solidFill>
                  <a:srgbClr val="141C38"/>
                </a:solidFill>
                <a:latin typeface="Times New Roman"/>
              </a:rPr>
              <a:t>Product area &amp; status</a:t>
            </a:r>
          </a:p>
          <a:p>
            <a:pPr>
              <a:spcAft>
                <a:spcPts val="400"/>
              </a:spcAft>
            </a:pPr>
            <a:r>
              <a:rPr sz="1100" i="1">
                <a:solidFill>
                  <a:srgbClr val="64748B"/>
                </a:solidFill>
                <a:latin typeface="Times New Roman"/>
              </a:rPr>
              <a:t>Chandrayaan-2 Lunar Remote Sensing · SIH 2026 Problem 26166</a:t>
            </a:r>
          </a:p>
          <a:p>
            <a:pPr>
              <a:spcBef>
                <a:spcPts val="300"/>
              </a:spcBef>
            </a:pPr>
            <a:r>
              <a:rPr b="1" sz="1200">
                <a:solidFill>
                  <a:srgbClr val="141C38"/>
                </a:solidFill>
                <a:latin typeface="Times New Roman"/>
              </a:rPr>
              <a:t>• Domain &amp; Platform: </a:t>
            </a:r>
            <a:r>
              <a:rPr sz="1100">
                <a:solidFill>
                  <a:srgbClr val="212B3E"/>
                </a:solidFill>
                <a:latin typeface="Times New Roman"/>
              </a:rPr>
              <a:t>Lunar Remote Sensing &amp; Orbital Photogrammetry · Production Mission Console</a:t>
            </a:r>
          </a:p>
          <a:p>
            <a:pPr>
              <a:spcBef>
                <a:spcPts val="300"/>
              </a:spcBef>
            </a:pPr>
            <a:r>
              <a:rPr b="1" sz="1200">
                <a:solidFill>
                  <a:srgbClr val="141C38"/>
                </a:solidFill>
                <a:latin typeface="Times New Roman"/>
              </a:rPr>
              <a:t>• Compute Readiness: </a:t>
            </a:r>
            <a:r>
              <a:rPr sz="1100">
                <a:solidFill>
                  <a:srgbClr val="212B3E"/>
                </a:solidFill>
                <a:latin typeface="Times New Roman"/>
              </a:rPr>
              <a:t>Runs seamlessly on standard CPU (Laptop/Server); Optional GPU acceleration</a:t>
            </a:r>
          </a:p>
          <a:p>
            <a:pPr>
              <a:spcBef>
                <a:spcPts val="300"/>
              </a:spcBef>
            </a:pPr>
            <a:r>
              <a:rPr b="1" sz="1200">
                <a:solidFill>
                  <a:srgbClr val="141C38"/>
                </a:solidFill>
                <a:latin typeface="Times New Roman"/>
              </a:rPr>
              <a:t>• Benchmarked Accuracy: </a:t>
            </a:r>
            <a:r>
              <a:rPr sz="1100">
                <a:solidFill>
                  <a:srgbClr val="212B3E"/>
                </a:solidFill>
                <a:latin typeface="Times New Roman"/>
              </a:rPr>
              <a:t>0.148 px RMSE (SIFT) &amp; 4,683 inliers (LoFTR) on Chandrayaan-2 data</a:t>
            </a:r>
          </a:p>
          <a:p>
            <a:pPr>
              <a:spcBef>
                <a:spcPts val="300"/>
              </a:spcBef>
            </a:pPr>
            <a:r>
              <a:rPr b="1" sz="1200">
                <a:solidFill>
                  <a:srgbClr val="141C38"/>
                </a:solidFill>
                <a:latin typeface="Times New Roman"/>
              </a:rPr>
              <a:t>• Verification &amp; Tests: </a:t>
            </a:r>
            <a:r>
              <a:rPr sz="1100">
                <a:solidFill>
                  <a:srgbClr val="212B3E"/>
                </a:solidFill>
                <a:latin typeface="Times New Roman"/>
              </a:rPr>
              <a:t>20 automated Pytest verification test suites pass with 100% test coverage</a:t>
            </a:r>
          </a:p>
          <a:p>
            <a:pPr>
              <a:spcBef>
                <a:spcPts val="300"/>
              </a:spcBef>
            </a:pPr>
            <a:r>
              <a:rPr b="1" sz="1200">
                <a:solidFill>
                  <a:srgbClr val="141C38"/>
                </a:solidFill>
                <a:latin typeface="Times New Roman"/>
              </a:rPr>
              <a:t>• Strict Mission Data Policy: </a:t>
            </a:r>
            <a:r>
              <a:rPr sz="1100">
                <a:solidFill>
                  <a:srgbClr val="212B3E"/>
                </a:solidFill>
                <a:latin typeface="Times New Roman"/>
              </a:rPr>
              <a:t>100% Real Chandrayaan-2 orbital data (Zero mock or simulated data policy)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94360" cy="59436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Times New Roman"/>
              </a:rPr>
              <a:t>2</a:t>
            </a:r>
          </a:p>
        </p:txBody>
      </p:sp>
      <p:sp>
        <p:nvSpPr>
          <p:cNvPr id="4" name="TextBox 3"/>
          <p:cNvSpPr txBox="1"/>
          <p:nvPr/>
        </p:nvSpPr>
        <p:spPr>
          <a:xfrm>
            <a:off x="1463040" y="347472"/>
            <a:ext cx="10058400" cy="384048"/>
          </a:xfrm>
          <a:prstGeom prst="rect">
            <a:avLst/>
          </a:prstGeom>
          <a:noFill/>
        </p:spPr>
        <p:txBody>
          <a:bodyPr wrap="square">
            <a:spAutoFit/>
          </a:bodyPr>
          <a:lstStyle/>
          <a:p>
            <a:r>
              <a:rPr sz="2500" b="1">
                <a:solidFill>
                  <a:srgbClr val="141C38"/>
                </a:solidFill>
                <a:latin typeface="Times New Roman"/>
              </a:rPr>
              <a:t>System Design (Top-Level)</a:t>
            </a:r>
          </a:p>
        </p:txBody>
      </p:sp>
      <p:sp>
        <p:nvSpPr>
          <p:cNvPr id="5" name="TextBox 4"/>
          <p:cNvSpPr txBox="1"/>
          <p:nvPr/>
        </p:nvSpPr>
        <p:spPr>
          <a:xfrm>
            <a:off x="731520" y="987552"/>
            <a:ext cx="10789920" cy="292608"/>
          </a:xfrm>
          <a:prstGeom prst="rect">
            <a:avLst/>
          </a:prstGeom>
          <a:noFill/>
        </p:spPr>
        <p:txBody>
          <a:bodyPr wrap="square">
            <a:spAutoFit/>
          </a:bodyPr>
          <a:lstStyle/>
          <a:p>
            <a:r>
              <a:rPr sz="1250" i="1">
                <a:solidFill>
                  <a:srgbClr val="64748B"/>
                </a:solidFill>
                <a:latin typeface="Times New Roman"/>
              </a:rPr>
              <a:t>Top-level architecture: how does this agent fit into the broader platform? Show front end, API layer, vision engine &amp; storage.</a:t>
            </a:r>
          </a:p>
        </p:txBody>
      </p:sp>
      <p:sp>
        <p:nvSpPr>
          <p:cNvPr id="6" name="TextBox 5"/>
          <p:cNvSpPr txBox="1"/>
          <p:nvPr/>
        </p:nvSpPr>
        <p:spPr>
          <a:xfrm>
            <a:off x="731520" y="6446520"/>
            <a:ext cx="9144000" cy="320040"/>
          </a:xfrm>
          <a:prstGeom prst="rect">
            <a:avLst/>
          </a:prstGeom>
          <a:noFill/>
        </p:spPr>
        <p:txBody>
          <a:bodyPr wrap="none">
            <a:spAutoFit/>
          </a:bodyPr>
          <a:lstStyle/>
          <a:p>
            <a:r>
              <a:rPr sz="1100">
                <a:solidFill>
                  <a:srgbClr val="94A3B8"/>
                </a:solidFill>
                <a:latin typeface="Times New Roman"/>
              </a:rPr>
              <a:t>Agent Architecture Blueprint · fill in for your agent (Lunar-X Home Page)</a:t>
            </a:r>
          </a:p>
        </p:txBody>
      </p:sp>
      <p:sp>
        <p:nvSpPr>
          <p:cNvPr id="7" name="TextBox 6"/>
          <p:cNvSpPr txBox="1"/>
          <p:nvPr/>
        </p:nvSpPr>
        <p:spPr>
          <a:xfrm>
            <a:off x="10972800" y="6446520"/>
            <a:ext cx="731520" cy="320040"/>
          </a:xfrm>
          <a:prstGeom prst="rect">
            <a:avLst/>
          </a:prstGeom>
          <a:noFill/>
        </p:spPr>
        <p:txBody>
          <a:bodyPr wrap="none">
            <a:spAutoFit/>
          </a:bodyPr>
          <a:lstStyle/>
          <a:p>
            <a:pPr algn="r"/>
            <a:r>
              <a:rPr sz="1100">
                <a:solidFill>
                  <a:srgbClr val="94A3B8"/>
                </a:solidFill>
                <a:latin typeface="Times New Roman"/>
              </a:rPr>
              <a:t>4</a:t>
            </a:r>
          </a:p>
        </p:txBody>
      </p:sp>
      <p:sp>
        <p:nvSpPr>
          <p:cNvPr id="8" name="Rounded Rectangle 7"/>
          <p:cNvSpPr/>
          <p:nvPr/>
        </p:nvSpPr>
        <p:spPr>
          <a:xfrm>
            <a:off x="731520" y="1325880"/>
            <a:ext cx="6217920" cy="498348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1_system_architecture.png"/>
          <p:cNvPicPr>
            <a:picLocks noChangeAspect="1"/>
          </p:cNvPicPr>
          <p:nvPr/>
        </p:nvPicPr>
        <p:blipFill>
          <a:blip r:embed="rId2"/>
          <a:stretch>
            <a:fillRect/>
          </a:stretch>
        </p:blipFill>
        <p:spPr>
          <a:xfrm>
            <a:off x="868680" y="1554480"/>
            <a:ext cx="5943600" cy="4480560"/>
          </a:xfrm>
          <a:prstGeom prst="rect">
            <a:avLst/>
          </a:prstGeom>
        </p:spPr>
      </p:pic>
      <p:sp>
        <p:nvSpPr>
          <p:cNvPr id="10" name="Rounded Rectangle 9"/>
          <p:cNvSpPr/>
          <p:nvPr/>
        </p:nvSpPr>
        <p:spPr>
          <a:xfrm>
            <a:off x="7132320" y="1325880"/>
            <a:ext cx="4327855" cy="498348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96912" y="1417320"/>
            <a:ext cx="3998671" cy="4800600"/>
          </a:xfrm>
          <a:prstGeom prst="rect">
            <a:avLst/>
          </a:prstGeom>
          <a:noFill/>
        </p:spPr>
        <p:txBody>
          <a:bodyPr wrap="square" tIns="36576" bIns="36576" lIns="109728" rIns="109728">
            <a:spAutoFit/>
          </a:bodyPr>
          <a:lstStyle/>
          <a:p>
            <a:r>
              <a:rPr sz="1500" b="1">
                <a:solidFill>
                  <a:srgbClr val="141C38"/>
                </a:solidFill>
                <a:latin typeface="Times New Roman"/>
              </a:rPr>
              <a:t>System Layer Breakdown</a:t>
            </a:r>
          </a:p>
          <a:p>
            <a:pPr>
              <a:spcAft>
                <a:spcPts val="400"/>
              </a:spcAft>
            </a:pPr>
            <a:r>
              <a:rPr sz="1100" i="1">
                <a:solidFill>
                  <a:srgbClr val="64748B"/>
                </a:solidFill>
                <a:latin typeface="Times New Roman"/>
              </a:rPr>
              <a:t>Clean 3-Tier Architecture for High Reliability</a:t>
            </a:r>
          </a:p>
          <a:p>
            <a:pPr>
              <a:spcBef>
                <a:spcPts val="500"/>
              </a:spcBef>
            </a:pPr>
            <a:r>
              <a:rPr b="1" sz="1200">
                <a:solidFill>
                  <a:srgbClr val="141C38"/>
                </a:solidFill>
                <a:latin typeface="Times New Roman"/>
              </a:rPr>
              <a:t>1. Product UI (Next.js + Carbon Console)</a:t>
            </a:r>
          </a:p>
          <a:p>
            <a:r>
              <a:rPr sz="1050">
                <a:solidFill>
                  <a:srgbClr val="212B3E"/>
                </a:solidFill>
                <a:latin typeface="Times New Roman"/>
              </a:rPr>
              <a:t>User-friendly web frontend hai. Preset selection, drag-and-drop file uploader, parameter toggles, live execution logs aur 4 visualization modes (Matches, Registered, Checkerboard, Difference) provide karta hai.</a:t>
            </a:r>
          </a:p>
          <a:p>
            <a:pPr>
              <a:spcBef>
                <a:spcPts val="500"/>
              </a:spcBef>
            </a:pPr>
            <a:r>
              <a:rPr b="1" sz="1200">
                <a:solidFill>
                  <a:srgbClr val="141C38"/>
                </a:solidFill>
                <a:latin typeface="Times New Roman"/>
              </a:rPr>
              <a:t>2. API Gateway (FastAPI Backend)</a:t>
            </a:r>
          </a:p>
          <a:p>
            <a:r>
              <a:rPr sz="1050">
                <a:solidFill>
                  <a:srgbClr val="212B3E"/>
                </a:solidFill>
                <a:latin typeface="Times New Roman"/>
              </a:rPr>
              <a:t>High-performance Python asynchronous server (Port 8000). REST endpoints (`/api/register`, `/api/upload`, `/api/benchmark`) request receive karke processing engine ko delegate karte hain.</a:t>
            </a:r>
          </a:p>
          <a:p>
            <a:pPr>
              <a:spcBef>
                <a:spcPts val="500"/>
              </a:spcBef>
            </a:pPr>
            <a:r>
              <a:rPr b="1" sz="1200">
                <a:solidFill>
                  <a:srgbClr val="141C38"/>
                </a:solidFill>
                <a:latin typeface="Times New Roman"/>
              </a:rPr>
              <a:t>3. Adaptive Preprocessing Engine</a:t>
            </a:r>
          </a:p>
          <a:p>
            <a:r>
              <a:rPr sz="1050">
                <a:solidFill>
                  <a:srgbClr val="212B3E"/>
                </a:solidFill>
                <a:latin typeface="Times New Roman"/>
              </a:rPr>
              <a:t>Moon surface par shadows ko handle karne ke liye CLAHE (Contrast Limited Adaptive Histogram Equalization) aur Sobel gradient filters lagata hai taaki sun illumination invariant feature detection ho.</a:t>
            </a:r>
          </a:p>
          <a:p>
            <a:pPr>
              <a:spcBef>
                <a:spcPts val="500"/>
              </a:spcBef>
            </a:pPr>
            <a:r>
              <a:rPr b="1" sz="1200">
                <a:solidFill>
                  <a:srgbClr val="141C38"/>
                </a:solidFill>
                <a:latin typeface="Times New Roman"/>
              </a:rPr>
              <a:t>4. Dual-Path Feature Matching Core</a:t>
            </a:r>
          </a:p>
          <a:p>
            <a:r>
              <a:rPr sz="1050">
                <a:solidFill>
                  <a:srgbClr val="212B3E"/>
                </a:solidFill>
                <a:latin typeface="Times New Roman"/>
              </a:rPr>
              <a:t>• Fast Classical Route: SIFT / ORB (Runs in 0.16s on CPU)
• Deep Learned Route: LoFTR transformer / SuperPoint (Extracts 4,680+ dense points on low-contrast terrain).</a:t>
            </a:r>
          </a:p>
          <a:p>
            <a:pPr>
              <a:spcBef>
                <a:spcPts val="500"/>
              </a:spcBef>
            </a:pPr>
            <a:r>
              <a:rPr b="1" sz="1200">
                <a:solidFill>
                  <a:srgbClr val="141C38"/>
                </a:solidFill>
                <a:latin typeface="Times New Roman"/>
              </a:rPr>
              <a:t>5. Robust Geometry &amp; Refinement Layer</a:t>
            </a:r>
          </a:p>
          <a:p>
            <a:r>
              <a:rPr sz="1050">
                <a:solidFill>
                  <a:srgbClr val="212B3E"/>
                </a:solidFill>
                <a:latin typeface="Times New Roman"/>
              </a:rPr>
              <a:t>MAGSAC++ outlier rejection galat matches hatata hai, SVD stability check degenerate matrix rokta hai, aur cornerSubPix sub-pixel precision lata hai.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94360" cy="59436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Times New Roman"/>
              </a:rPr>
              <a:t>3</a:t>
            </a:r>
          </a:p>
        </p:txBody>
      </p:sp>
      <p:sp>
        <p:nvSpPr>
          <p:cNvPr id="4" name="TextBox 3"/>
          <p:cNvSpPr txBox="1"/>
          <p:nvPr/>
        </p:nvSpPr>
        <p:spPr>
          <a:xfrm>
            <a:off x="1463040" y="347472"/>
            <a:ext cx="10058400" cy="384048"/>
          </a:xfrm>
          <a:prstGeom prst="rect">
            <a:avLst/>
          </a:prstGeom>
          <a:noFill/>
        </p:spPr>
        <p:txBody>
          <a:bodyPr wrap="square">
            <a:spAutoFit/>
          </a:bodyPr>
          <a:lstStyle/>
          <a:p>
            <a:r>
              <a:rPr sz="2500" b="1">
                <a:solidFill>
                  <a:srgbClr val="141C38"/>
                </a:solidFill>
                <a:latin typeface="Times New Roman"/>
              </a:rPr>
              <a:t>Prompt Design</a:t>
            </a:r>
          </a:p>
        </p:txBody>
      </p:sp>
      <p:sp>
        <p:nvSpPr>
          <p:cNvPr id="5" name="TextBox 4"/>
          <p:cNvSpPr txBox="1"/>
          <p:nvPr/>
        </p:nvSpPr>
        <p:spPr>
          <a:xfrm>
            <a:off x="731520" y="987552"/>
            <a:ext cx="10789920" cy="292608"/>
          </a:xfrm>
          <a:prstGeom prst="rect">
            <a:avLst/>
          </a:prstGeom>
          <a:noFill/>
        </p:spPr>
        <p:txBody>
          <a:bodyPr wrap="square">
            <a:spAutoFit/>
          </a:bodyPr>
          <a:lstStyle/>
          <a:p>
            <a:r>
              <a:rPr sz="1250" i="1">
                <a:solidFill>
                  <a:srgbClr val="64748B"/>
                </a:solidFill>
                <a:latin typeface="Times New Roman"/>
              </a:rPr>
              <a:t>Paste the exact system / base prompt. Ideally show one worked example: a real assembled prompt for a sample user, before submittal.</a:t>
            </a:r>
          </a:p>
        </p:txBody>
      </p:sp>
      <p:sp>
        <p:nvSpPr>
          <p:cNvPr id="6" name="TextBox 5"/>
          <p:cNvSpPr txBox="1"/>
          <p:nvPr/>
        </p:nvSpPr>
        <p:spPr>
          <a:xfrm>
            <a:off x="731520" y="6446520"/>
            <a:ext cx="9144000" cy="320040"/>
          </a:xfrm>
          <a:prstGeom prst="rect">
            <a:avLst/>
          </a:prstGeom>
          <a:noFill/>
        </p:spPr>
        <p:txBody>
          <a:bodyPr wrap="none">
            <a:spAutoFit/>
          </a:bodyPr>
          <a:lstStyle/>
          <a:p>
            <a:r>
              <a:rPr sz="1100">
                <a:solidFill>
                  <a:srgbClr val="94A3B8"/>
                </a:solidFill>
                <a:latin typeface="Times New Roman"/>
              </a:rPr>
              <a:t>Agent Architecture Blueprint · fill in for your agent (Lunar-X Home Page)</a:t>
            </a:r>
          </a:p>
        </p:txBody>
      </p:sp>
      <p:sp>
        <p:nvSpPr>
          <p:cNvPr id="7" name="TextBox 6"/>
          <p:cNvSpPr txBox="1"/>
          <p:nvPr/>
        </p:nvSpPr>
        <p:spPr>
          <a:xfrm>
            <a:off x="10972800" y="6446520"/>
            <a:ext cx="731520" cy="320040"/>
          </a:xfrm>
          <a:prstGeom prst="rect">
            <a:avLst/>
          </a:prstGeom>
          <a:noFill/>
        </p:spPr>
        <p:txBody>
          <a:bodyPr wrap="none">
            <a:spAutoFit/>
          </a:bodyPr>
          <a:lstStyle/>
          <a:p>
            <a:pPr algn="r"/>
            <a:r>
              <a:rPr sz="1100">
                <a:solidFill>
                  <a:srgbClr val="94A3B8"/>
                </a:solidFill>
                <a:latin typeface="Times New Roman"/>
              </a:rPr>
              <a:t>5</a:t>
            </a:r>
          </a:p>
        </p:txBody>
      </p:sp>
      <p:sp>
        <p:nvSpPr>
          <p:cNvPr id="8" name="Rounded Rectangle 7"/>
          <p:cNvSpPr/>
          <p:nvPr/>
        </p:nvSpPr>
        <p:spPr>
          <a:xfrm>
            <a:off x="731520" y="1325880"/>
            <a:ext cx="10728655" cy="224028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417320"/>
            <a:ext cx="10399471" cy="2057400"/>
          </a:xfrm>
          <a:prstGeom prst="rect">
            <a:avLst/>
          </a:prstGeom>
          <a:noFill/>
        </p:spPr>
        <p:txBody>
          <a:bodyPr wrap="square" tIns="36576" bIns="36576" lIns="109728" rIns="109728">
            <a:spAutoFit/>
          </a:bodyPr>
          <a:lstStyle/>
          <a:p>
            <a:r>
              <a:rPr sz="1500" b="1">
                <a:solidFill>
                  <a:srgbClr val="141C38"/>
                </a:solidFill>
                <a:latin typeface="Times New Roman"/>
              </a:rPr>
              <a:t>Direct Structured Execution Payload (No LLM Text Prompts Used)</a:t>
            </a:r>
          </a:p>
          <a:p>
            <a:pPr>
              <a:spcAft>
                <a:spcPts val="400"/>
              </a:spcAft>
            </a:pPr>
            <a:r>
              <a:rPr sz="1100" i="1">
                <a:solidFill>
                  <a:srgbClr val="64748B"/>
                </a:solidFill>
                <a:latin typeface="Times New Roman"/>
              </a:rPr>
              <a:t>Why natural language prompts are avoided for satellite geometric registration</a:t>
            </a:r>
          </a:p>
          <a:p>
            <a:r>
              <a:rPr b="1" sz="1350">
                <a:solidFill>
                  <a:srgbClr val="F16A21"/>
                </a:solidFill>
                <a:latin typeface="Times New Roman"/>
              </a:rPr>
              <a:t>Important Architectural Decision: </a:t>
            </a:r>
            <a:r>
              <a:rPr sz="1250">
                <a:solidFill>
                  <a:srgbClr val="212B3E"/>
                </a:solidFill>
                <a:latin typeface="Times New Roman"/>
              </a:rPr>
              <a:t>Is system me koi Text LLM Prompt use nahi hota — yahan direct structured API Execution Payload use hota hai. Image registration pure spatial coordinate geometry ka kaam hai. Text prompts use karne se AI coordinates hallucinate kar deta hai, jo scientific space mission ke liye dangerous hai. Isliye Home Page se direct JSON parameters dispatch hote hain:</a:t>
            </a:r>
          </a:p>
          <a:p>
            <a:pPr>
              <a:spcBef>
                <a:spcPts val="400"/>
              </a:spcBef>
            </a:pPr>
            <a:r>
              <a:rPr b="1" sz="1200">
                <a:solidFill>
                  <a:srgbClr val="141C38"/>
                </a:solidFill>
                <a:latin typeface="Times New Roman"/>
              </a:rPr>
              <a:t>Exact Assembled API Request Payload (Sent from Home Page to Vision Engine):</a:t>
            </a:r>
          </a:p>
          <a:p>
            <a:pPr>
              <a:spcBef>
                <a:spcPts val="200"/>
              </a:spcBef>
            </a:pPr>
            <a:r>
              <a:rPr sz="1100">
                <a:solidFill>
                  <a:srgbClr val="0F172A"/>
                </a:solidFill>
                <a:latin typeface="Courier New"/>
              </a:rPr>
              <a:t>{
  "source_filename": "ch2_tmc_crater_scene_src.png",    "reference_filename": "ch2_tmc_crater_scene_ref.png",
  "method": "LoFTR",    "preprocessing": "clahe",    "model_type": "affine",
  "subpixel": true,     "spatial_filter": true,     "reproj_thresh": 3.0
}</a:t>
            </a:r>
          </a:p>
        </p:txBody>
      </p:sp>
      <p:sp>
        <p:nvSpPr>
          <p:cNvPr id="10" name="Rounded Rectangle 9"/>
          <p:cNvSpPr/>
          <p:nvPr/>
        </p:nvSpPr>
        <p:spPr>
          <a:xfrm>
            <a:off x="731520" y="3675887"/>
            <a:ext cx="5257800" cy="2670048"/>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3767327"/>
            <a:ext cx="4928616" cy="2487168"/>
          </a:xfrm>
          <a:prstGeom prst="rect">
            <a:avLst/>
          </a:prstGeom>
          <a:noFill/>
        </p:spPr>
        <p:txBody>
          <a:bodyPr wrap="square" tIns="36576" bIns="36576" lIns="109728" rIns="109728">
            <a:spAutoFit/>
          </a:bodyPr>
          <a:lstStyle/>
          <a:p>
            <a:r>
              <a:rPr sz="1500" b="1">
                <a:solidFill>
                  <a:srgbClr val="141C38"/>
                </a:solidFill>
                <a:latin typeface="Times New Roman"/>
              </a:rPr>
              <a:t>Payload Sections &amp; Layout</a:t>
            </a:r>
          </a:p>
          <a:p>
            <a:pPr>
              <a:spcAft>
                <a:spcPts val="400"/>
              </a:spcAft>
            </a:pPr>
            <a:r>
              <a:rPr sz="1100" i="1">
                <a:solidFill>
                  <a:srgbClr val="64748B"/>
                </a:solidFill>
                <a:latin typeface="Times New Roman"/>
              </a:rPr>
              <a:t>Structured parameters defining exact registration behavior</a:t>
            </a:r>
          </a:p>
          <a:p>
            <a:pPr>
              <a:spcBef>
                <a:spcPts val="250"/>
              </a:spcBef>
            </a:pPr>
            <a:r>
              <a:rPr b="1" sz="1150">
                <a:solidFill>
                  <a:srgbClr val="141C38"/>
                </a:solidFill>
                <a:latin typeface="Times New Roman"/>
              </a:rPr>
              <a:t>• Image Identifiers: </a:t>
            </a:r>
            <a:r>
              <a:rPr sz="1100">
                <a:solidFill>
                  <a:srgbClr val="212B3E"/>
                </a:solidFill>
                <a:latin typeface="Times New Roman"/>
              </a:rPr>
              <a:t>Source (moving image) aur Reference (fixed ground truth) file path ya uploaded image data.</a:t>
            </a:r>
          </a:p>
          <a:p>
            <a:pPr>
              <a:spcBef>
                <a:spcPts val="250"/>
              </a:spcBef>
            </a:pPr>
            <a:r>
              <a:rPr b="1" sz="1150">
                <a:solidFill>
                  <a:srgbClr val="141C38"/>
                </a:solidFill>
                <a:latin typeface="Times New Roman"/>
              </a:rPr>
              <a:t>• Matcher Selection: </a:t>
            </a:r>
            <a:r>
              <a:rPr sz="1100">
                <a:solidFill>
                  <a:srgbClr val="212B3E"/>
                </a:solidFill>
                <a:latin typeface="Times New Roman"/>
              </a:rPr>
              <a:t>User toggle ke hisab se 'SIFT', 'ORB', 'LoFTR', ya 'SuperPoint+LightGlue' route activate hota hai.</a:t>
            </a:r>
          </a:p>
          <a:p>
            <a:pPr>
              <a:spcBef>
                <a:spcPts val="250"/>
              </a:spcBef>
            </a:pPr>
            <a:r>
              <a:rPr b="1" sz="1150">
                <a:solidFill>
                  <a:srgbClr val="141C38"/>
                </a:solidFill>
                <a:latin typeface="Times New Roman"/>
              </a:rPr>
              <a:t>• Illumination Filter: </a:t>
            </a:r>
            <a:r>
              <a:rPr sz="1100">
                <a:solidFill>
                  <a:srgbClr val="212B3E"/>
                </a:solidFill>
                <a:latin typeface="Times New Roman"/>
              </a:rPr>
              <a:t>'clahe' (adaptive contrast equalization), 'gradient' (Sobel edge orientation), ya 'raw' representation.</a:t>
            </a:r>
          </a:p>
          <a:p>
            <a:pPr>
              <a:spcBef>
                <a:spcPts val="250"/>
              </a:spcBef>
            </a:pPr>
            <a:r>
              <a:rPr b="1" sz="1150">
                <a:solidFill>
                  <a:srgbClr val="141C38"/>
                </a:solidFill>
                <a:latin typeface="Times New Roman"/>
              </a:rPr>
              <a:t>• Geometric Model: </a:t>
            </a:r>
            <a:r>
              <a:rPr sz="1100">
                <a:solidFill>
                  <a:srgbClr val="212B3E"/>
                </a:solidFill>
                <a:latin typeface="Times New Roman"/>
              </a:rPr>
              <a:t>'affine' (6 DOF - scale, rotation, shear, translation) ya 'homography' (8 DOF perspective).</a:t>
            </a:r>
          </a:p>
          <a:p>
            <a:pPr>
              <a:spcBef>
                <a:spcPts val="250"/>
              </a:spcBef>
            </a:pPr>
            <a:r>
              <a:rPr b="1" sz="1150">
                <a:solidFill>
                  <a:srgbClr val="141C38"/>
                </a:solidFill>
                <a:latin typeface="Times New Roman"/>
              </a:rPr>
              <a:t>• Refinement Flags: </a:t>
            </a:r>
            <a:r>
              <a:rPr sz="1100">
                <a:solidFill>
                  <a:srgbClr val="212B3E"/>
                </a:solidFill>
                <a:latin typeface="Times New Roman"/>
              </a:rPr>
              <a:t>'subpixel': true (gradient refinement) &amp; 'spatial_filter': true (8x8 grid binning).</a:t>
            </a:r>
          </a:p>
        </p:txBody>
      </p:sp>
      <p:sp>
        <p:nvSpPr>
          <p:cNvPr id="12" name="Rounded Rectangle 11"/>
          <p:cNvSpPr/>
          <p:nvPr/>
        </p:nvSpPr>
        <p:spPr>
          <a:xfrm>
            <a:off x="6199632" y="3675887"/>
            <a:ext cx="5257800" cy="2670048"/>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64224" y="3767327"/>
            <a:ext cx="4928616" cy="2487168"/>
          </a:xfrm>
          <a:prstGeom prst="rect">
            <a:avLst/>
          </a:prstGeom>
          <a:noFill/>
        </p:spPr>
        <p:txBody>
          <a:bodyPr wrap="square" tIns="36576" bIns="36576" lIns="109728" rIns="109728">
            <a:spAutoFit/>
          </a:bodyPr>
          <a:lstStyle/>
          <a:p>
            <a:r>
              <a:rPr sz="1500" b="1">
                <a:solidFill>
                  <a:srgbClr val="141C38"/>
                </a:solidFill>
                <a:latin typeface="Times New Roman"/>
              </a:rPr>
              <a:t>Guardrails · Quality Tools · Output Schema</a:t>
            </a:r>
          </a:p>
          <a:p>
            <a:pPr>
              <a:spcAft>
                <a:spcPts val="400"/>
              </a:spcAft>
            </a:pPr>
            <a:r>
              <a:rPr sz="1100" i="1">
                <a:solidFill>
                  <a:srgbClr val="64748B"/>
                </a:solidFill>
                <a:latin typeface="Times New Roman"/>
              </a:rPr>
              <a:t>Strict validation prevents bad data and hallucinated transformations</a:t>
            </a:r>
          </a:p>
          <a:p>
            <a:pPr>
              <a:spcBef>
                <a:spcPts val="250"/>
              </a:spcBef>
            </a:pPr>
            <a:r>
              <a:rPr b="1" sz="1150">
                <a:solidFill>
                  <a:srgbClr val="141C38"/>
                </a:solidFill>
                <a:latin typeface="Times New Roman"/>
              </a:rPr>
              <a:t>✔ Input Validation Guardrail: </a:t>
            </a:r>
            <a:r>
              <a:rPr sz="1100">
                <a:solidFill>
                  <a:srgbClr val="212B3E"/>
                </a:solidFill>
                <a:latin typeface="Times New Roman"/>
              </a:rPr>
              <a:t>PDS4 format, sensor type, and pixel dimension match checks ensure incompatible image pairs fail safely before processing.</a:t>
            </a:r>
          </a:p>
          <a:p>
            <a:pPr>
              <a:spcBef>
                <a:spcPts val="250"/>
              </a:spcBef>
            </a:pPr>
            <a:r>
              <a:rPr b="1" sz="1150">
                <a:solidFill>
                  <a:srgbClr val="141C38"/>
                </a:solidFill>
                <a:latin typeface="Times New Roman"/>
              </a:rPr>
              <a:t>✔ Matrix SVD Condition Guardrail: </a:t>
            </a:r>
            <a:r>
              <a:rPr sz="1100">
                <a:solidFill>
                  <a:srgbClr val="212B3E"/>
                </a:solidFill>
                <a:latin typeface="Times New Roman"/>
              </a:rPr>
              <a:t>Condition number κ(A) &lt;= 10^5 and det(A) &gt; 0 enforce physical validity, completely preventing negative scale or surface collapse.</a:t>
            </a:r>
          </a:p>
          <a:p>
            <a:pPr>
              <a:spcBef>
                <a:spcPts val="250"/>
              </a:spcBef>
            </a:pPr>
            <a:r>
              <a:rPr b="1" sz="1150">
                <a:solidFill>
                  <a:srgbClr val="141C38"/>
                </a:solidFill>
                <a:latin typeface="Times New Roman"/>
              </a:rPr>
              <a:t>✔ Sub-pixel Verification Gate: </a:t>
            </a:r>
            <a:r>
              <a:rPr sz="1100">
                <a:solidFill>
                  <a:srgbClr val="212B3E"/>
                </a:solidFill>
                <a:latin typeface="Times New Roman"/>
              </a:rPr>
              <a:t>Refinement tabhi accept hoti hai agar refined RMSE coarse RMSE se kam ho (ΔRMSE &gt; 0); warna coarse transformation hi maintain hoti hai.</a:t>
            </a:r>
          </a:p>
          <a:p>
            <a:pPr>
              <a:spcBef>
                <a:spcPts val="250"/>
              </a:spcBef>
            </a:pPr>
            <a:r>
              <a:rPr b="1" sz="1150">
                <a:solidFill>
                  <a:srgbClr val="141C38"/>
                </a:solidFill>
                <a:latin typeface="Times New Roman"/>
              </a:rPr>
              <a:t>✔ Output Response Schema: </a:t>
            </a:r>
            <a:r>
              <a:rPr sz="1100">
                <a:solidFill>
                  <a:srgbClr val="212B3E"/>
                </a:solidFill>
                <a:latin typeface="Times New Roman"/>
              </a:rPr>
              <a:t>Strict JSON response with exact numbers: inliers count, reprojection RMSE (px), coverage %, NCC score, and relative image URLs.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94360" cy="59436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Times New Roman"/>
              </a:rPr>
              <a:t>4</a:t>
            </a:r>
          </a:p>
        </p:txBody>
      </p:sp>
      <p:sp>
        <p:nvSpPr>
          <p:cNvPr id="4" name="TextBox 3"/>
          <p:cNvSpPr txBox="1"/>
          <p:nvPr/>
        </p:nvSpPr>
        <p:spPr>
          <a:xfrm>
            <a:off x="1463040" y="347472"/>
            <a:ext cx="10058400" cy="384048"/>
          </a:xfrm>
          <a:prstGeom prst="rect">
            <a:avLst/>
          </a:prstGeom>
          <a:noFill/>
        </p:spPr>
        <p:txBody>
          <a:bodyPr wrap="square">
            <a:spAutoFit/>
          </a:bodyPr>
          <a:lstStyle/>
          <a:p>
            <a:r>
              <a:rPr sz="2500" b="1">
                <a:solidFill>
                  <a:srgbClr val="141C38"/>
                </a:solidFill>
                <a:latin typeface="Times New Roman"/>
              </a:rPr>
              <a:t>Language Model (LLM)</a:t>
            </a:r>
          </a:p>
        </p:txBody>
      </p:sp>
      <p:sp>
        <p:nvSpPr>
          <p:cNvPr id="5" name="TextBox 4"/>
          <p:cNvSpPr txBox="1"/>
          <p:nvPr/>
        </p:nvSpPr>
        <p:spPr>
          <a:xfrm>
            <a:off x="731520" y="987552"/>
            <a:ext cx="10789920" cy="292608"/>
          </a:xfrm>
          <a:prstGeom prst="rect">
            <a:avLst/>
          </a:prstGeom>
          <a:noFill/>
        </p:spPr>
        <p:txBody>
          <a:bodyPr wrap="square">
            <a:spAutoFit/>
          </a:bodyPr>
          <a:lstStyle/>
          <a:p>
            <a:r>
              <a:rPr sz="1250" i="1">
                <a:solidFill>
                  <a:srgbClr val="64748B"/>
                </a:solidFill>
                <a:latin typeface="Times New Roman"/>
              </a:rPr>
              <a:t>Public LLM used · Access route / provider · Paid or free tier · Same LLM across all your agents?</a:t>
            </a:r>
          </a:p>
        </p:txBody>
      </p:sp>
      <p:sp>
        <p:nvSpPr>
          <p:cNvPr id="6" name="TextBox 5"/>
          <p:cNvSpPr txBox="1"/>
          <p:nvPr/>
        </p:nvSpPr>
        <p:spPr>
          <a:xfrm>
            <a:off x="731520" y="6446520"/>
            <a:ext cx="9144000" cy="320040"/>
          </a:xfrm>
          <a:prstGeom prst="rect">
            <a:avLst/>
          </a:prstGeom>
          <a:noFill/>
        </p:spPr>
        <p:txBody>
          <a:bodyPr wrap="none">
            <a:spAutoFit/>
          </a:bodyPr>
          <a:lstStyle/>
          <a:p>
            <a:r>
              <a:rPr sz="1100">
                <a:solidFill>
                  <a:srgbClr val="94A3B8"/>
                </a:solidFill>
                <a:latin typeface="Times New Roman"/>
              </a:rPr>
              <a:t>Agent Architecture Blueprint · fill in for your agent (Lunar-X Home Page)</a:t>
            </a:r>
          </a:p>
        </p:txBody>
      </p:sp>
      <p:sp>
        <p:nvSpPr>
          <p:cNvPr id="7" name="TextBox 6"/>
          <p:cNvSpPr txBox="1"/>
          <p:nvPr/>
        </p:nvSpPr>
        <p:spPr>
          <a:xfrm>
            <a:off x="10972800" y="6446520"/>
            <a:ext cx="731520" cy="320040"/>
          </a:xfrm>
          <a:prstGeom prst="rect">
            <a:avLst/>
          </a:prstGeom>
          <a:noFill/>
        </p:spPr>
        <p:txBody>
          <a:bodyPr wrap="none">
            <a:spAutoFit/>
          </a:bodyPr>
          <a:lstStyle/>
          <a:p>
            <a:pPr algn="r"/>
            <a:r>
              <a:rPr sz="1100">
                <a:solidFill>
                  <a:srgbClr val="94A3B8"/>
                </a:solidFill>
                <a:latin typeface="Times New Roman"/>
              </a:rPr>
              <a:t>6</a:t>
            </a:r>
          </a:p>
        </p:txBody>
      </p:sp>
      <p:sp>
        <p:nvSpPr>
          <p:cNvPr id="8" name="Rounded Rectangle 7"/>
          <p:cNvSpPr/>
          <p:nvPr/>
        </p:nvSpPr>
        <p:spPr>
          <a:xfrm>
            <a:off x="731520" y="1325880"/>
            <a:ext cx="5257800" cy="242316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417320"/>
            <a:ext cx="4928616" cy="2240280"/>
          </a:xfrm>
          <a:prstGeom prst="rect">
            <a:avLst/>
          </a:prstGeom>
          <a:noFill/>
        </p:spPr>
        <p:txBody>
          <a:bodyPr wrap="square" tIns="36576" bIns="36576" lIns="109728" rIns="109728">
            <a:spAutoFit/>
          </a:bodyPr>
          <a:lstStyle/>
          <a:p>
            <a:r>
              <a:rPr sz="1500" b="1">
                <a:solidFill>
                  <a:srgbClr val="141C38"/>
                </a:solidFill>
                <a:latin typeface="Times New Roman"/>
              </a:rPr>
              <a:t>Public LLM Used</a:t>
            </a:r>
          </a:p>
          <a:p>
            <a:pPr>
              <a:spcAft>
                <a:spcPts val="400"/>
              </a:spcAft>
            </a:pPr>
            <a:r>
              <a:rPr sz="1100" i="1">
                <a:solidFill>
                  <a:srgbClr val="64748B"/>
                </a:solidFill>
                <a:latin typeface="Times New Roman"/>
              </a:rPr>
              <a:t>exact model &amp; version — e.g. Gemma 3 20B, MedGemma, GPT-4o, Claude</a:t>
            </a:r>
          </a:p>
          <a:p>
            <a:r>
              <a:rPr b="1" sz="1300">
                <a:solidFill>
                  <a:srgbClr val="F16A21"/>
                </a:solidFill>
                <a:latin typeface="Times New Roman"/>
              </a:rPr>
              <a:t>• No Text LLM Used (Pure Computer Vision): </a:t>
            </a:r>
            <a:r>
              <a:rPr sz="1250">
                <a:solidFill>
                  <a:srgbClr val="212B3E"/>
                </a:solidFill>
                <a:latin typeface="Times New Roman"/>
              </a:rPr>
              <a:t>Is system me koi text generation LLM use nahi hota kyunki satellite image registration ko mathematical coordinates chahiye, text answers nahi.</a:t>
            </a:r>
          </a:p>
          <a:p>
            <a:pPr>
              <a:spcBef>
                <a:spcPts val="500"/>
              </a:spcBef>
            </a:pPr>
            <a:r>
              <a:rPr b="1" sz="1300">
                <a:solidFill>
                  <a:srgbClr val="141C38"/>
                </a:solidFill>
                <a:latin typeface="Times New Roman"/>
              </a:rPr>
              <a:t>• Deep Vision Neural Networks: </a:t>
            </a:r>
            <a:r>
              <a:rPr sz="1250">
                <a:solidFill>
                  <a:srgbClr val="212B3E"/>
                </a:solidFill>
                <a:latin typeface="Times New Roman"/>
              </a:rPr>
              <a:t>LoFTR (Local Feature TRansformer with self/cross attention) &amp; SuperPoint + LightGlue.</a:t>
            </a:r>
          </a:p>
          <a:p>
            <a:pPr>
              <a:spcBef>
                <a:spcPts val="500"/>
              </a:spcBef>
            </a:pPr>
            <a:r>
              <a:rPr b="1" sz="1300">
                <a:solidFill>
                  <a:srgbClr val="141C38"/>
                </a:solidFill>
                <a:latin typeface="Times New Roman"/>
              </a:rPr>
              <a:t>• Classical Computer Vision Algorithms: </a:t>
            </a:r>
            <a:r>
              <a:rPr sz="1250">
                <a:solidFill>
                  <a:srgbClr val="212B3E"/>
                </a:solidFill>
                <a:latin typeface="Times New Roman"/>
              </a:rPr>
              <a:t>SIFT (Scale-Invariant Feature Transform) &amp; ORB (Oriented FAST and Rotated BRIEF) implemented via OpenCV.</a:t>
            </a:r>
          </a:p>
        </p:txBody>
      </p:sp>
      <p:sp>
        <p:nvSpPr>
          <p:cNvPr id="10" name="Rounded Rectangle 9"/>
          <p:cNvSpPr/>
          <p:nvPr/>
        </p:nvSpPr>
        <p:spPr>
          <a:xfrm>
            <a:off x="6199632" y="1325880"/>
            <a:ext cx="5257800" cy="242316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64224" y="1417320"/>
            <a:ext cx="4928616" cy="2240280"/>
          </a:xfrm>
          <a:prstGeom prst="rect">
            <a:avLst/>
          </a:prstGeom>
          <a:noFill/>
        </p:spPr>
        <p:txBody>
          <a:bodyPr wrap="square" tIns="36576" bIns="36576" lIns="109728" rIns="109728">
            <a:spAutoFit/>
          </a:bodyPr>
          <a:lstStyle/>
          <a:p>
            <a:r>
              <a:rPr sz="1500" b="1">
                <a:solidFill>
                  <a:srgbClr val="141C38"/>
                </a:solidFill>
                <a:latin typeface="Times New Roman"/>
              </a:rPr>
              <a:t>Access Route / Provider</a:t>
            </a:r>
          </a:p>
          <a:p>
            <a:pPr>
              <a:spcAft>
                <a:spcPts val="400"/>
              </a:spcAft>
            </a:pPr>
            <a:r>
              <a:rPr sz="1100" i="1">
                <a:solidFill>
                  <a:srgbClr val="64748B"/>
                </a:solidFill>
                <a:latin typeface="Times New Roman"/>
              </a:rPr>
              <a:t>e.g. OpenRouter (free tier), direct API, hosted</a:t>
            </a:r>
          </a:p>
          <a:p>
            <a:r>
              <a:rPr b="1" sz="1300">
                <a:solidFill>
                  <a:srgbClr val="141C38"/>
                </a:solidFill>
                <a:latin typeface="Times New Roman"/>
              </a:rPr>
              <a:t>• 100% Local Self-Hosted Execution: </a:t>
            </a:r>
            <a:r>
              <a:rPr sz="1250">
                <a:solidFill>
                  <a:srgbClr val="212B3E"/>
                </a:solidFill>
                <a:latin typeface="Times New Roman"/>
              </a:rPr>
              <a:t>Saare vision models directly backend host machine par run hote hain through PyTorch and OpenCV C++ bindings.</a:t>
            </a:r>
          </a:p>
          <a:p>
            <a:pPr>
              <a:spcBef>
                <a:spcPts val="600"/>
              </a:spcBef>
            </a:pPr>
            <a:r>
              <a:rPr b="1" sz="1300">
                <a:solidFill>
                  <a:srgbClr val="141C38"/>
                </a:solidFill>
                <a:latin typeface="Times New Roman"/>
              </a:rPr>
              <a:t>• Zero Cloud API Dependency: </a:t>
            </a:r>
            <a:r>
              <a:rPr sz="1250">
                <a:solidFill>
                  <a:srgbClr val="212B3E"/>
                </a:solidFill>
                <a:latin typeface="Times New Roman"/>
              </a:rPr>
              <a:t>Kisi external provider (OpenRouter, OpenAI, Hugging Face cloud) par koi dependency nahi hai. Pure standalone deployment hai.</a:t>
            </a:r>
          </a:p>
          <a:p>
            <a:pPr>
              <a:spcBef>
                <a:spcPts val="600"/>
              </a:spcBef>
            </a:pPr>
            <a:r>
              <a:rPr b="1" sz="1300">
                <a:solidFill>
                  <a:srgbClr val="10B981"/>
                </a:solidFill>
                <a:latin typeface="Times New Roman"/>
              </a:rPr>
              <a:t>• Air-Gapped Ready for ISRO: </a:t>
            </a:r>
            <a:r>
              <a:rPr sz="1250">
                <a:solidFill>
                  <a:srgbClr val="212B3E"/>
                </a:solidFill>
                <a:latin typeface="Times New Roman"/>
              </a:rPr>
              <a:t>Ground station ya high-security satellite centers me bina internet connection ke bhi pipeline smoothly execute hoti hai.</a:t>
            </a:r>
          </a:p>
        </p:txBody>
      </p:sp>
      <p:sp>
        <p:nvSpPr>
          <p:cNvPr id="12" name="Rounded Rectangle 11"/>
          <p:cNvSpPr/>
          <p:nvPr/>
        </p:nvSpPr>
        <p:spPr>
          <a:xfrm>
            <a:off x="731520" y="3886200"/>
            <a:ext cx="5257800" cy="242316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977640"/>
            <a:ext cx="4928616" cy="2240280"/>
          </a:xfrm>
          <a:prstGeom prst="rect">
            <a:avLst/>
          </a:prstGeom>
          <a:noFill/>
        </p:spPr>
        <p:txBody>
          <a:bodyPr wrap="square" tIns="36576" bIns="36576" lIns="109728" rIns="109728">
            <a:spAutoFit/>
          </a:bodyPr>
          <a:lstStyle/>
          <a:p>
            <a:r>
              <a:rPr sz="1500" b="1">
                <a:solidFill>
                  <a:srgbClr val="141C38"/>
                </a:solidFill>
                <a:latin typeface="Times New Roman"/>
              </a:rPr>
              <a:t>Paid or Free Tier</a:t>
            </a:r>
          </a:p>
          <a:p>
            <a:pPr>
              <a:spcAft>
                <a:spcPts val="400"/>
              </a:spcAft>
            </a:pPr>
            <a:r>
              <a:rPr sz="1100" i="1">
                <a:solidFill>
                  <a:srgbClr val="64748B"/>
                </a:solidFill>
                <a:latin typeface="Times New Roman"/>
              </a:rPr>
              <a:t>note any token / subscription requirement — e.g. OpenRouter needs paid tokens</a:t>
            </a:r>
          </a:p>
          <a:p>
            <a:r>
              <a:rPr b="1" sz="1300">
                <a:solidFill>
                  <a:srgbClr val="141C38"/>
                </a:solidFill>
                <a:latin typeface="Times New Roman"/>
              </a:rPr>
              <a:t>• 100% Free &amp; Open-Source (Zero Subscription): </a:t>
            </a:r>
            <a:r>
              <a:rPr sz="1250">
                <a:solidFill>
                  <a:srgbClr val="212B3E"/>
                </a:solidFill>
                <a:latin typeface="Times New Roman"/>
              </a:rPr>
              <a:t>Zero per-token costs. Chahe 10 images match karo ya 10,000 gigapixel satellite strips, system ka koi API bill nahi banta.</a:t>
            </a:r>
          </a:p>
          <a:p>
            <a:pPr>
              <a:spcBef>
                <a:spcPts val="600"/>
              </a:spcBef>
            </a:pPr>
            <a:r>
              <a:rPr b="1" sz="1300">
                <a:solidFill>
                  <a:srgbClr val="141C38"/>
                </a:solidFill>
                <a:latin typeface="Times New Roman"/>
              </a:rPr>
              <a:t>• Optimized for Commodity Hardware: </a:t>
            </a:r>
            <a:r>
              <a:rPr sz="1250">
                <a:solidFill>
                  <a:srgbClr val="212B3E"/>
                </a:solidFill>
                <a:latin typeface="Times New Roman"/>
              </a:rPr>
              <a:t>SIFT + CLAHE CPU par sirf 0.16 seconds me execute ho jata hai. Iske liye expensive cloud A100 GPU rent karne ki bilkul jarurat nahi hai.</a:t>
            </a:r>
          </a:p>
          <a:p>
            <a:pPr>
              <a:spcBef>
                <a:spcPts val="600"/>
              </a:spcBef>
            </a:pPr>
            <a:r>
              <a:rPr b="1" sz="1300">
                <a:solidFill>
                  <a:srgbClr val="141C38"/>
                </a:solidFill>
                <a:latin typeface="Times New Roman"/>
              </a:rPr>
              <a:t>• Sustainable for Space Missions: </a:t>
            </a:r>
            <a:r>
              <a:rPr sz="1250">
                <a:solidFill>
                  <a:srgbClr val="212B3E"/>
                </a:solidFill>
                <a:latin typeface="Times New Roman"/>
              </a:rPr>
              <a:t>Budget constraints ke bina continuous long-term space mission monitoring possible hai.</a:t>
            </a:r>
          </a:p>
        </p:txBody>
      </p:sp>
      <p:sp>
        <p:nvSpPr>
          <p:cNvPr id="14" name="Rounded Rectangle 13"/>
          <p:cNvSpPr/>
          <p:nvPr/>
        </p:nvSpPr>
        <p:spPr>
          <a:xfrm>
            <a:off x="6199632" y="3886200"/>
            <a:ext cx="5257800" cy="242316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4224" y="3977640"/>
            <a:ext cx="4928616" cy="2240280"/>
          </a:xfrm>
          <a:prstGeom prst="rect">
            <a:avLst/>
          </a:prstGeom>
          <a:noFill/>
        </p:spPr>
        <p:txBody>
          <a:bodyPr wrap="square" tIns="36576" bIns="36576" lIns="109728" rIns="109728">
            <a:spAutoFit/>
          </a:bodyPr>
          <a:lstStyle/>
          <a:p>
            <a:r>
              <a:rPr sz="1500" b="1">
                <a:solidFill>
                  <a:srgbClr val="141C38"/>
                </a:solidFill>
                <a:latin typeface="Times New Roman"/>
              </a:rPr>
              <a:t>Same Engine Across All Agents?</a:t>
            </a:r>
          </a:p>
          <a:p>
            <a:pPr>
              <a:spcAft>
                <a:spcPts val="400"/>
              </a:spcAft>
            </a:pPr>
            <a:r>
              <a:rPr sz="1100" i="1">
                <a:solidFill>
                  <a:srgbClr val="64748B"/>
                </a:solidFill>
                <a:latin typeface="Times New Roman"/>
              </a:rPr>
              <a:t>Yes / No — if no, list which agent uses what</a:t>
            </a:r>
          </a:p>
          <a:p>
            <a:r>
              <a:rPr b="1" sz="1300">
                <a:solidFill>
                  <a:srgbClr val="141C38"/>
                </a:solidFill>
                <a:latin typeface="Times New Roman"/>
              </a:rPr>
              <a:t>• Yes — Unified Computer Vision Engine: </a:t>
            </a:r>
            <a:r>
              <a:rPr sz="1250">
                <a:solidFill>
                  <a:srgbClr val="212B3E"/>
                </a:solidFill>
                <a:latin typeface="Times New Roman"/>
              </a:rPr>
              <a:t>Home page interactive web console aur automated batch processing script dono ek hi standard engine (`src/pipeline.py`) share karte hain.</a:t>
            </a:r>
          </a:p>
          <a:p>
            <a:pPr>
              <a:spcBef>
                <a:spcPts val="600"/>
              </a:spcBef>
            </a:pPr>
            <a:r>
              <a:rPr b="1" sz="1300">
                <a:solidFill>
                  <a:srgbClr val="141C38"/>
                </a:solidFill>
                <a:latin typeface="Times New Roman"/>
              </a:rPr>
              <a:t>• Adaptive Matcher Routing: </a:t>
            </a:r>
            <a:r>
              <a:rPr sz="1250">
                <a:solidFill>
                  <a:srgbClr val="212B3E"/>
                </a:solidFill>
                <a:latin typeface="Times New Roman"/>
              </a:rPr>
              <a:t>Terrain texture ke basis par system automatically best algorithm route karta hai: High-texture terrain ke liye Fast SIFT, aur low-contrast ya shadow-heavy terrain ke liye Deep LoFTR.</a:t>
            </a:r>
          </a:p>
          <a:p>
            <a:pPr>
              <a:spcBef>
                <a:spcPts val="600"/>
              </a:spcBef>
            </a:pPr>
            <a:r>
              <a:rPr b="1" sz="1300">
                <a:solidFill>
                  <a:srgbClr val="141C38"/>
                </a:solidFill>
                <a:latin typeface="Times New Roman"/>
              </a:rPr>
              <a:t>• Consistent Playbook: </a:t>
            </a:r>
            <a:r>
              <a:rPr sz="1250">
                <a:solidFill>
                  <a:srgbClr val="212B3E"/>
                </a:solidFill>
                <a:latin typeface="Times New Roman"/>
              </a:rPr>
              <a:t>Ensures benchmark reproducibility across different sub-teams and planetary datasets.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94360" cy="59436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Times New Roman"/>
              </a:rPr>
              <a:t>5</a:t>
            </a:r>
          </a:p>
        </p:txBody>
      </p:sp>
      <p:sp>
        <p:nvSpPr>
          <p:cNvPr id="4" name="TextBox 3"/>
          <p:cNvSpPr txBox="1"/>
          <p:nvPr/>
        </p:nvSpPr>
        <p:spPr>
          <a:xfrm>
            <a:off x="1463040" y="347472"/>
            <a:ext cx="10058400" cy="384048"/>
          </a:xfrm>
          <a:prstGeom prst="rect">
            <a:avLst/>
          </a:prstGeom>
          <a:noFill/>
        </p:spPr>
        <p:txBody>
          <a:bodyPr wrap="square">
            <a:spAutoFit/>
          </a:bodyPr>
          <a:lstStyle/>
          <a:p>
            <a:r>
              <a:rPr sz="2500" b="1">
                <a:solidFill>
                  <a:srgbClr val="141C38"/>
                </a:solidFill>
                <a:latin typeface="Times New Roman"/>
              </a:rPr>
              <a:t>APIs &amp; Integrations</a:t>
            </a:r>
          </a:p>
        </p:txBody>
      </p:sp>
      <p:sp>
        <p:nvSpPr>
          <p:cNvPr id="5" name="TextBox 4"/>
          <p:cNvSpPr txBox="1"/>
          <p:nvPr/>
        </p:nvSpPr>
        <p:spPr>
          <a:xfrm>
            <a:off x="731520" y="987552"/>
            <a:ext cx="10789920" cy="292608"/>
          </a:xfrm>
          <a:prstGeom prst="rect">
            <a:avLst/>
          </a:prstGeom>
          <a:noFill/>
        </p:spPr>
        <p:txBody>
          <a:bodyPr wrap="square">
            <a:spAutoFit/>
          </a:bodyPr>
          <a:lstStyle/>
          <a:p>
            <a:r>
              <a:rPr sz="1250" i="1">
                <a:solidFill>
                  <a:srgbClr val="64748B"/>
                </a:solidFill>
                <a:latin typeface="Times New Roman"/>
              </a:rPr>
              <a:t>LLM integration API / SDK · External services · Authentication / keys</a:t>
            </a:r>
          </a:p>
        </p:txBody>
      </p:sp>
      <p:sp>
        <p:nvSpPr>
          <p:cNvPr id="6" name="TextBox 5"/>
          <p:cNvSpPr txBox="1"/>
          <p:nvPr/>
        </p:nvSpPr>
        <p:spPr>
          <a:xfrm>
            <a:off x="731520" y="6446520"/>
            <a:ext cx="9144000" cy="320040"/>
          </a:xfrm>
          <a:prstGeom prst="rect">
            <a:avLst/>
          </a:prstGeom>
          <a:noFill/>
        </p:spPr>
        <p:txBody>
          <a:bodyPr wrap="none">
            <a:spAutoFit/>
          </a:bodyPr>
          <a:lstStyle/>
          <a:p>
            <a:r>
              <a:rPr sz="1100">
                <a:solidFill>
                  <a:srgbClr val="94A3B8"/>
                </a:solidFill>
                <a:latin typeface="Times New Roman"/>
              </a:rPr>
              <a:t>Agent Architecture Blueprint · fill in for your agent (Lunar-X Home Page)</a:t>
            </a:r>
          </a:p>
        </p:txBody>
      </p:sp>
      <p:sp>
        <p:nvSpPr>
          <p:cNvPr id="7" name="TextBox 6"/>
          <p:cNvSpPr txBox="1"/>
          <p:nvPr/>
        </p:nvSpPr>
        <p:spPr>
          <a:xfrm>
            <a:off x="10972800" y="6446520"/>
            <a:ext cx="731520" cy="320040"/>
          </a:xfrm>
          <a:prstGeom prst="rect">
            <a:avLst/>
          </a:prstGeom>
          <a:noFill/>
        </p:spPr>
        <p:txBody>
          <a:bodyPr wrap="none">
            <a:spAutoFit/>
          </a:bodyPr>
          <a:lstStyle/>
          <a:p>
            <a:pPr algn="r"/>
            <a:r>
              <a:rPr sz="1100">
                <a:solidFill>
                  <a:srgbClr val="94A3B8"/>
                </a:solidFill>
                <a:latin typeface="Times New Roman"/>
              </a:rPr>
              <a:t>7</a:t>
            </a:r>
          </a:p>
        </p:txBody>
      </p:sp>
      <p:sp>
        <p:nvSpPr>
          <p:cNvPr id="8" name="Rounded Rectangle 7"/>
          <p:cNvSpPr/>
          <p:nvPr/>
        </p:nvSpPr>
        <p:spPr>
          <a:xfrm>
            <a:off x="731520" y="1298448"/>
            <a:ext cx="10728655" cy="1609344"/>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389888"/>
            <a:ext cx="10399471" cy="1426464"/>
          </a:xfrm>
          <a:prstGeom prst="rect">
            <a:avLst/>
          </a:prstGeom>
          <a:noFill/>
        </p:spPr>
        <p:txBody>
          <a:bodyPr wrap="square" tIns="36576" bIns="36576" lIns="109728" rIns="109728">
            <a:spAutoFit/>
          </a:bodyPr>
          <a:lstStyle/>
          <a:p>
            <a:r>
              <a:rPr sz="1500" b="1">
                <a:solidFill>
                  <a:srgbClr val="141C38"/>
                </a:solidFill>
                <a:latin typeface="Times New Roman"/>
              </a:rPr>
              <a:t>Engine Integration API / REST Endpoints</a:t>
            </a:r>
          </a:p>
          <a:p>
            <a:pPr>
              <a:spcAft>
                <a:spcPts val="400"/>
              </a:spcAft>
            </a:pPr>
            <a:r>
              <a:rPr sz="1100" i="1">
                <a:solidFill>
                  <a:srgbClr val="64748B"/>
                </a:solidFill>
                <a:latin typeface="Times New Roman"/>
              </a:rPr>
              <a:t>FastAPI Asynchronous Gateway bridging Next.js Frontend to Python Vision Core</a:t>
            </a:r>
          </a:p>
          <a:p>
            <a:pPr>
              <a:spcBef>
                <a:spcPts val="200"/>
              </a:spcBef>
            </a:pPr>
            <a:r>
              <a:rPr b="1" sz="1150">
                <a:solidFill>
                  <a:srgbClr val="141C38"/>
                </a:solidFill>
                <a:latin typeface="Times New Roman"/>
              </a:rPr>
              <a:t>• GET /api/health: </a:t>
            </a:r>
            <a:r>
              <a:rPr sz="1100">
                <a:solidFill>
                  <a:srgbClr val="212B3E"/>
                </a:solidFill>
                <a:latin typeface="Times New Roman"/>
              </a:rPr>
              <a:t>System connectivity check, returns active execution device (CPU / CUDA GPU), active algorithms, and server memory status.</a:t>
            </a:r>
          </a:p>
          <a:p>
            <a:pPr>
              <a:spcBef>
                <a:spcPts val="200"/>
              </a:spcBef>
            </a:pPr>
            <a:r>
              <a:rPr b="1" sz="1150">
                <a:solidFill>
                  <a:srgbClr val="141C38"/>
                </a:solidFill>
                <a:latin typeface="Times New Roman"/>
              </a:rPr>
              <a:t>• POST /api/register: </a:t>
            </a:r>
            <a:r>
              <a:rPr sz="1100">
                <a:solidFill>
                  <a:srgbClr val="212B3E"/>
                </a:solidFill>
                <a:latin typeface="Times New Roman"/>
              </a:rPr>
              <a:t>Runs complete alignment pipeline. Accepts JSON config and returns RMSE, inliers, spatial coverage, and generated visualization URLs.</a:t>
            </a:r>
          </a:p>
          <a:p>
            <a:pPr>
              <a:spcBef>
                <a:spcPts val="200"/>
              </a:spcBef>
            </a:pPr>
            <a:r>
              <a:rPr b="1" sz="1150">
                <a:solidFill>
                  <a:srgbClr val="141C38"/>
                </a:solidFill>
                <a:latin typeface="Times New Roman"/>
              </a:rPr>
              <a:t>• POST /api/upload &amp; GET /api/benchmark: </a:t>
            </a:r>
            <a:r>
              <a:rPr sz="1100">
                <a:solidFill>
                  <a:srgbClr val="212B3E"/>
                </a:solidFill>
                <a:latin typeface="Times New Roman"/>
              </a:rPr>
              <a:t>Handles multipart custom satellite image uploads and serves cached verified benchmark table for SIFT, ORB, LoFTR, and SuperPoint.</a:t>
            </a:r>
          </a:p>
        </p:txBody>
      </p:sp>
      <p:sp>
        <p:nvSpPr>
          <p:cNvPr id="10" name="Rounded Rectangle 9"/>
          <p:cNvSpPr/>
          <p:nvPr/>
        </p:nvSpPr>
        <p:spPr>
          <a:xfrm>
            <a:off x="731520" y="2980944"/>
            <a:ext cx="10728655" cy="1609344"/>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3072384"/>
            <a:ext cx="10399471" cy="1426464"/>
          </a:xfrm>
          <a:prstGeom prst="rect">
            <a:avLst/>
          </a:prstGeom>
          <a:noFill/>
        </p:spPr>
        <p:txBody>
          <a:bodyPr wrap="square" tIns="36576" bIns="36576" lIns="109728" rIns="109728">
            <a:spAutoFit/>
          </a:bodyPr>
          <a:lstStyle/>
          <a:p>
            <a:r>
              <a:rPr sz="1500" b="1">
                <a:solidFill>
                  <a:srgbClr val="141C38"/>
                </a:solidFill>
                <a:latin typeface="Times New Roman"/>
              </a:rPr>
              <a:t>External Services &amp; Satellite Data Formats</a:t>
            </a:r>
          </a:p>
          <a:p>
            <a:pPr>
              <a:spcAft>
                <a:spcPts val="400"/>
              </a:spcAft>
            </a:pPr>
            <a:r>
              <a:rPr sz="1100" i="1">
                <a:solidFill>
                  <a:srgbClr val="64748B"/>
                </a:solidFill>
                <a:latin typeface="Times New Roman"/>
              </a:rPr>
              <a:t>ISRO Planetary Data System (PDS4), GDAL/Rasterio GeoTIFF, and OpenCV Vision Libs</a:t>
            </a:r>
          </a:p>
          <a:p>
            <a:pPr>
              <a:spcBef>
                <a:spcPts val="200"/>
              </a:spcBef>
            </a:pPr>
            <a:r>
              <a:rPr b="1" sz="1150">
                <a:solidFill>
                  <a:srgbClr val="141C38"/>
                </a:solidFill>
                <a:latin typeface="Times New Roman"/>
              </a:rPr>
              <a:t>• ISRO PDS4 Planetary Data System: </a:t>
            </a:r>
            <a:r>
              <a:rPr sz="1100">
                <a:solidFill>
                  <a:srgbClr val="212B3E"/>
                </a:solidFill>
                <a:latin typeface="Times New Roman"/>
              </a:rPr>
              <a:t>Direct parsing of official ISDA PDS4 XML labels, spacecraft attitude, and raw sensor binary arrays (`.img` / `.npz`).</a:t>
            </a:r>
          </a:p>
          <a:p>
            <a:pPr>
              <a:spcBef>
                <a:spcPts val="200"/>
              </a:spcBef>
            </a:pPr>
            <a:r>
              <a:rPr b="1" sz="1150">
                <a:solidFill>
                  <a:srgbClr val="141C38"/>
                </a:solidFill>
                <a:latin typeface="Times New Roman"/>
              </a:rPr>
              <a:t>• GeoTIFF &amp; GIS Georeferencing: </a:t>
            </a:r>
            <a:r>
              <a:rPr sz="1100">
                <a:solidFill>
                  <a:srgbClr val="212B3E"/>
                </a:solidFill>
                <a:latin typeface="Times New Roman"/>
              </a:rPr>
              <a:t>GDAL and Rasterio libraries lunar coordinate reference systems (Moon 2000 IAU ellipsoid) preserve karte hain taaki output GeoTIFF map-ready ho.</a:t>
            </a:r>
          </a:p>
          <a:p>
            <a:pPr>
              <a:spcBef>
                <a:spcPts val="200"/>
              </a:spcBef>
            </a:pPr>
            <a:r>
              <a:rPr b="1" sz="1150">
                <a:solidFill>
                  <a:srgbClr val="141C38"/>
                </a:solidFill>
                <a:latin typeface="Times New Roman"/>
              </a:rPr>
              <a:t>• Zero Third-Party SaaS: </a:t>
            </a:r>
            <a:r>
              <a:rPr sz="1100">
                <a:solidFill>
                  <a:srgbClr val="212B3E"/>
                </a:solidFill>
                <a:latin typeface="Times New Roman"/>
              </a:rPr>
              <a:t>Koi Twilio, LiveKit, 11Labs ya external cloud storage use nahi hota. Complete processing on-premise hoti hai.</a:t>
            </a:r>
          </a:p>
        </p:txBody>
      </p:sp>
      <p:sp>
        <p:nvSpPr>
          <p:cNvPr id="12" name="Rounded Rectangle 11"/>
          <p:cNvSpPr/>
          <p:nvPr/>
        </p:nvSpPr>
        <p:spPr>
          <a:xfrm>
            <a:off x="731520" y="4663440"/>
            <a:ext cx="10728655" cy="1609344"/>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754880"/>
            <a:ext cx="10399471" cy="1426464"/>
          </a:xfrm>
          <a:prstGeom prst="rect">
            <a:avLst/>
          </a:prstGeom>
          <a:noFill/>
        </p:spPr>
        <p:txBody>
          <a:bodyPr wrap="square" tIns="36576" bIns="36576" lIns="109728" rIns="109728">
            <a:spAutoFit/>
          </a:bodyPr>
          <a:lstStyle/>
          <a:p>
            <a:r>
              <a:rPr sz="1500" b="1">
                <a:solidFill>
                  <a:srgbClr val="141C38"/>
                </a:solidFill>
                <a:latin typeface="Times New Roman"/>
              </a:rPr>
              <a:t>Authentication / Secrets Management</a:t>
            </a:r>
          </a:p>
          <a:p>
            <a:pPr>
              <a:spcAft>
                <a:spcPts val="400"/>
              </a:spcAft>
            </a:pPr>
            <a:r>
              <a:rPr sz="1100" i="1">
                <a:solidFill>
                  <a:srgbClr val="64748B"/>
                </a:solidFill>
                <a:latin typeface="Times New Roman"/>
              </a:rPr>
              <a:t>Central environment configuration, zero personal accounts, secure mission operations</a:t>
            </a:r>
          </a:p>
          <a:p>
            <a:pPr>
              <a:spcBef>
                <a:spcPts val="200"/>
              </a:spcBef>
            </a:pPr>
            <a:r>
              <a:rPr b="1" sz="1150">
                <a:solidFill>
                  <a:srgbClr val="141C38"/>
                </a:solidFill>
                <a:latin typeface="Times New Roman"/>
              </a:rPr>
              <a:t>• Zero Paid API Keys Required: </a:t>
            </a:r>
            <a:r>
              <a:rPr sz="1100">
                <a:solidFill>
                  <a:srgbClr val="212B3E"/>
                </a:solidFill>
                <a:latin typeface="Times New Roman"/>
              </a:rPr>
              <a:t>Kyunki system 100% self-hosted open-source models use karta hai, kisi developer ko apni personal OpenAI ya cloud key dalne ki jarurat nahi hai.</a:t>
            </a:r>
          </a:p>
          <a:p>
            <a:pPr>
              <a:spcBef>
                <a:spcPts val="200"/>
              </a:spcBef>
            </a:pPr>
            <a:r>
              <a:rPr b="1" sz="1150">
                <a:solidFill>
                  <a:srgbClr val="141C38"/>
                </a:solidFill>
                <a:latin typeface="Times New Roman"/>
              </a:rPr>
              <a:t>• Central Configuration (.env): </a:t>
            </a:r>
            <a:r>
              <a:rPr sz="1100">
                <a:solidFill>
                  <a:srgbClr val="212B3E"/>
                </a:solidFill>
                <a:latin typeface="Times New Roman"/>
              </a:rPr>
              <a:t>Server ports, directory paths, and hardware flags central `.env` file se control hote hain (`PORT=8000`, `DEVICE=cpu`).</a:t>
            </a:r>
          </a:p>
          <a:p>
            <a:pPr>
              <a:spcBef>
                <a:spcPts val="200"/>
              </a:spcBef>
            </a:pPr>
            <a:r>
              <a:rPr b="1" sz="1150">
                <a:solidFill>
                  <a:srgbClr val="141C38"/>
                </a:solidFill>
                <a:latin typeface="Times New Roman"/>
              </a:rPr>
              <a:t>• Enterprise Security Ready: </a:t>
            </a:r>
            <a:r>
              <a:rPr sz="1100">
                <a:solidFill>
                  <a:srgbClr val="212B3E"/>
                </a:solidFill>
                <a:latin typeface="Times New Roman"/>
              </a:rPr>
              <a:t>ISRO internal network deployment ke liye JWT / LDAP token authentication pluggable middleware ke roop me configured hai.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94360" cy="59436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Times New Roman"/>
              </a:rPr>
              <a:t>6</a:t>
            </a:r>
          </a:p>
        </p:txBody>
      </p:sp>
      <p:sp>
        <p:nvSpPr>
          <p:cNvPr id="4" name="TextBox 3"/>
          <p:cNvSpPr txBox="1"/>
          <p:nvPr/>
        </p:nvSpPr>
        <p:spPr>
          <a:xfrm>
            <a:off x="1463040" y="347472"/>
            <a:ext cx="10058400" cy="384048"/>
          </a:xfrm>
          <a:prstGeom prst="rect">
            <a:avLst/>
          </a:prstGeom>
          <a:noFill/>
        </p:spPr>
        <p:txBody>
          <a:bodyPr wrap="square">
            <a:spAutoFit/>
          </a:bodyPr>
          <a:lstStyle/>
          <a:p>
            <a:r>
              <a:rPr sz="2500" b="1">
                <a:solidFill>
                  <a:srgbClr val="141C38"/>
                </a:solidFill>
                <a:latin typeface="Times New Roman"/>
              </a:rPr>
              <a:t>Retrieval / RAG Components</a:t>
            </a:r>
          </a:p>
        </p:txBody>
      </p:sp>
      <p:sp>
        <p:nvSpPr>
          <p:cNvPr id="5" name="TextBox 4"/>
          <p:cNvSpPr txBox="1"/>
          <p:nvPr/>
        </p:nvSpPr>
        <p:spPr>
          <a:xfrm>
            <a:off x="731520" y="987552"/>
            <a:ext cx="10789920" cy="292608"/>
          </a:xfrm>
          <a:prstGeom prst="rect">
            <a:avLst/>
          </a:prstGeom>
          <a:noFill/>
        </p:spPr>
        <p:txBody>
          <a:bodyPr wrap="square">
            <a:spAutoFit/>
          </a:bodyPr>
          <a:lstStyle/>
          <a:p>
            <a:r>
              <a:rPr sz="1250" i="1">
                <a:solidFill>
                  <a:srgbClr val="64748B"/>
                </a:solidFill>
                <a:latin typeface="Times New Roman"/>
              </a:rPr>
              <a:t>RAG approach · Data sources retrieved · Vector store / index · Chunking / embedding notes</a:t>
            </a:r>
          </a:p>
        </p:txBody>
      </p:sp>
      <p:sp>
        <p:nvSpPr>
          <p:cNvPr id="6" name="TextBox 5"/>
          <p:cNvSpPr txBox="1"/>
          <p:nvPr/>
        </p:nvSpPr>
        <p:spPr>
          <a:xfrm>
            <a:off x="731520" y="6446520"/>
            <a:ext cx="9144000" cy="320040"/>
          </a:xfrm>
          <a:prstGeom prst="rect">
            <a:avLst/>
          </a:prstGeom>
          <a:noFill/>
        </p:spPr>
        <p:txBody>
          <a:bodyPr wrap="none">
            <a:spAutoFit/>
          </a:bodyPr>
          <a:lstStyle/>
          <a:p>
            <a:r>
              <a:rPr sz="1100">
                <a:solidFill>
                  <a:srgbClr val="94A3B8"/>
                </a:solidFill>
                <a:latin typeface="Times New Roman"/>
              </a:rPr>
              <a:t>Agent Architecture Blueprint · fill in for your agent (Lunar-X Home Page)</a:t>
            </a:r>
          </a:p>
        </p:txBody>
      </p:sp>
      <p:sp>
        <p:nvSpPr>
          <p:cNvPr id="7" name="TextBox 6"/>
          <p:cNvSpPr txBox="1"/>
          <p:nvPr/>
        </p:nvSpPr>
        <p:spPr>
          <a:xfrm>
            <a:off x="10972800" y="6446520"/>
            <a:ext cx="731520" cy="320040"/>
          </a:xfrm>
          <a:prstGeom prst="rect">
            <a:avLst/>
          </a:prstGeom>
          <a:noFill/>
        </p:spPr>
        <p:txBody>
          <a:bodyPr wrap="none">
            <a:spAutoFit/>
          </a:bodyPr>
          <a:lstStyle/>
          <a:p>
            <a:pPr algn="r"/>
            <a:r>
              <a:rPr sz="1100">
                <a:solidFill>
                  <a:srgbClr val="94A3B8"/>
                </a:solidFill>
                <a:latin typeface="Times New Roman"/>
              </a:rPr>
              <a:t>8</a:t>
            </a:r>
          </a:p>
        </p:txBody>
      </p:sp>
      <p:sp>
        <p:nvSpPr>
          <p:cNvPr id="8" name="Rounded Rectangle 7"/>
          <p:cNvSpPr/>
          <p:nvPr/>
        </p:nvSpPr>
        <p:spPr>
          <a:xfrm>
            <a:off x="731520" y="1325880"/>
            <a:ext cx="5257800" cy="242316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417320"/>
            <a:ext cx="4928616" cy="2240280"/>
          </a:xfrm>
          <a:prstGeom prst="rect">
            <a:avLst/>
          </a:prstGeom>
          <a:noFill/>
        </p:spPr>
        <p:txBody>
          <a:bodyPr wrap="square" tIns="36576" bIns="36576" lIns="109728" rIns="109728">
            <a:spAutoFit/>
          </a:bodyPr>
          <a:lstStyle/>
          <a:p>
            <a:r>
              <a:rPr sz="1500" b="1">
                <a:solidFill>
                  <a:srgbClr val="141C38"/>
                </a:solidFill>
                <a:latin typeface="Times New Roman"/>
              </a:rPr>
              <a:t>RAG Approach (Visual Feature Retrieval)</a:t>
            </a:r>
          </a:p>
          <a:p>
            <a:pPr>
              <a:spcAft>
                <a:spcPts val="400"/>
              </a:spcAft>
            </a:pPr>
            <a:r>
              <a:rPr sz="1100" i="1">
                <a:solidFill>
                  <a:srgbClr val="64748B"/>
                </a:solidFill>
                <a:latin typeface="Times New Roman"/>
              </a:rPr>
              <a:t>e.g. custom block, LangChain, none — We use Spatial Visual Retrieval</a:t>
            </a:r>
          </a:p>
          <a:p>
            <a:r>
              <a:rPr b="1" sz="1300">
                <a:solidFill>
                  <a:srgbClr val="F16A21"/>
                </a:solidFill>
                <a:latin typeface="Times New Roman"/>
              </a:rPr>
              <a:t>• No Document/Text RAG: </a:t>
            </a:r>
            <a:r>
              <a:rPr sz="1250">
                <a:solidFill>
                  <a:srgbClr val="212B3E"/>
                </a:solidFill>
                <a:latin typeface="Times New Roman"/>
              </a:rPr>
              <a:t>Yahan text documents retrieve nahi hote. Iski jagah Satellite Spatial Feature Retrieval use hota hai.</a:t>
            </a:r>
          </a:p>
          <a:p>
            <a:pPr>
              <a:spcBef>
                <a:spcPts val="500"/>
              </a:spcBef>
            </a:pPr>
            <a:r>
              <a:rPr b="1" sz="1300">
                <a:solidFill>
                  <a:srgbClr val="141C38"/>
                </a:solidFill>
                <a:latin typeface="Times New Roman"/>
              </a:rPr>
              <a:t>• Visual Feature Correspondence: </a:t>
            </a:r>
            <a:r>
              <a:rPr sz="1250">
                <a:solidFill>
                  <a:srgbClr val="212B3E"/>
                </a:solidFill>
                <a:latin typeface="Times New Roman"/>
              </a:rPr>
              <a:t>Source image ke crater features ko Reference orbital image ke saath visual descriptor distance ke through search aur retrieve kiya jata hai.</a:t>
            </a:r>
          </a:p>
          <a:p>
            <a:pPr>
              <a:spcBef>
                <a:spcPts val="500"/>
              </a:spcBef>
            </a:pPr>
            <a:r>
              <a:rPr b="1" sz="1300">
                <a:solidFill>
                  <a:srgbClr val="141C38"/>
                </a:solidFill>
                <a:latin typeface="Times New Roman"/>
              </a:rPr>
              <a:t>• Mutual Nearest Neighbors: </a:t>
            </a:r>
            <a:r>
              <a:rPr sz="1250">
                <a:solidFill>
                  <a:srgbClr val="212B3E"/>
                </a:solidFill>
                <a:latin typeface="Times New Roman"/>
              </a:rPr>
              <a:t>Features ko match karte waqt bidirectional nearest neighbor check kiya jata hai taaki false matches reject ho sakein.</a:t>
            </a:r>
          </a:p>
        </p:txBody>
      </p:sp>
      <p:sp>
        <p:nvSpPr>
          <p:cNvPr id="10" name="Rounded Rectangle 9"/>
          <p:cNvSpPr/>
          <p:nvPr/>
        </p:nvSpPr>
        <p:spPr>
          <a:xfrm>
            <a:off x="6199632" y="1325880"/>
            <a:ext cx="5257800" cy="242316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64224" y="1417320"/>
            <a:ext cx="4928616" cy="2240280"/>
          </a:xfrm>
          <a:prstGeom prst="rect">
            <a:avLst/>
          </a:prstGeom>
          <a:noFill/>
        </p:spPr>
        <p:txBody>
          <a:bodyPr wrap="square" tIns="36576" bIns="36576" lIns="109728" rIns="109728">
            <a:spAutoFit/>
          </a:bodyPr>
          <a:lstStyle/>
          <a:p>
            <a:r>
              <a:rPr sz="1500" b="1">
                <a:solidFill>
                  <a:srgbClr val="141C38"/>
                </a:solidFill>
                <a:latin typeface="Times New Roman"/>
              </a:rPr>
              <a:t>Data Sources Retrieved</a:t>
            </a:r>
          </a:p>
          <a:p>
            <a:pPr>
              <a:spcAft>
                <a:spcPts val="400"/>
              </a:spcAft>
            </a:pPr>
            <a:r>
              <a:rPr sz="1100" i="1">
                <a:solidFill>
                  <a:srgbClr val="64748B"/>
                </a:solidFill>
                <a:latin typeface="Times New Roman"/>
              </a:rPr>
              <a:t>docs, DB, knowledge base — what feeds it</a:t>
            </a:r>
          </a:p>
          <a:p>
            <a:r>
              <a:rPr b="1" sz="1300">
                <a:solidFill>
                  <a:srgbClr val="141C38"/>
                </a:solidFill>
                <a:latin typeface="Times New Roman"/>
              </a:rPr>
              <a:t>• Chandrayaan-2 TMC-2 Strips: </a:t>
            </a:r>
            <a:r>
              <a:rPr sz="1250">
                <a:solidFill>
                  <a:srgbClr val="212B3E"/>
                </a:solidFill>
                <a:latin typeface="Times New Roman"/>
              </a:rPr>
              <a:t>Terrain Mapping Camera-2 strips (5 m/px resolution, 3D stereo triplet views) from official mission orbits (e.g. Orbit 3922 vs 3943).</a:t>
            </a:r>
          </a:p>
          <a:p>
            <a:pPr>
              <a:spcBef>
                <a:spcPts val="500"/>
              </a:spcBef>
            </a:pPr>
            <a:r>
              <a:rPr b="1" sz="1300">
                <a:solidFill>
                  <a:srgbClr val="141C38"/>
                </a:solidFill>
                <a:latin typeface="Times New Roman"/>
              </a:rPr>
              <a:t>• OHRC High-Resolution Patches: </a:t>
            </a:r>
            <a:r>
              <a:rPr sz="1250">
                <a:solidFill>
                  <a:srgbClr val="212B3E"/>
                </a:solidFill>
                <a:latin typeface="Times New Roman"/>
              </a:rPr>
              <a:t>Orbiter High Resolution Camera (~0.25 m/px) sub-scenes covering landing zones and deep crater rims.</a:t>
            </a:r>
          </a:p>
          <a:p>
            <a:pPr>
              <a:spcBef>
                <a:spcPts val="500"/>
              </a:spcBef>
            </a:pPr>
            <a:r>
              <a:rPr b="1" sz="1300">
                <a:solidFill>
                  <a:srgbClr val="141C38"/>
                </a:solidFill>
                <a:latin typeface="Times New Roman"/>
              </a:rPr>
              <a:t>• PDS4 Mission Metadata: </a:t>
            </a:r>
            <a:r>
              <a:rPr sz="1250">
                <a:solidFill>
                  <a:srgbClr val="212B3E"/>
                </a:solidFill>
                <a:latin typeface="Times New Roman"/>
              </a:rPr>
              <a:t>Solar elevation angle, spacecraft altitude, sub-solar azimuth, and planetary coordinate bounds from ISDA labels.</a:t>
            </a:r>
          </a:p>
        </p:txBody>
      </p:sp>
      <p:sp>
        <p:nvSpPr>
          <p:cNvPr id="12" name="Rounded Rectangle 11"/>
          <p:cNvSpPr/>
          <p:nvPr/>
        </p:nvSpPr>
        <p:spPr>
          <a:xfrm>
            <a:off x="731520" y="3886200"/>
            <a:ext cx="5257800" cy="242316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977640"/>
            <a:ext cx="4928616" cy="2240280"/>
          </a:xfrm>
          <a:prstGeom prst="rect">
            <a:avLst/>
          </a:prstGeom>
          <a:noFill/>
        </p:spPr>
        <p:txBody>
          <a:bodyPr wrap="square" tIns="36576" bIns="36576" lIns="109728" rIns="109728">
            <a:spAutoFit/>
          </a:bodyPr>
          <a:lstStyle/>
          <a:p>
            <a:r>
              <a:rPr sz="1500" b="1">
                <a:solidFill>
                  <a:srgbClr val="141C38"/>
                </a:solidFill>
                <a:latin typeface="Times New Roman"/>
              </a:rPr>
              <a:t>Vector Store / Index (Spatial)</a:t>
            </a:r>
          </a:p>
          <a:p>
            <a:pPr>
              <a:spcAft>
                <a:spcPts val="400"/>
              </a:spcAft>
            </a:pPr>
            <a:r>
              <a:rPr sz="1100" i="1">
                <a:solidFill>
                  <a:srgbClr val="64748B"/>
                </a:solidFill>
                <a:latin typeface="Times New Roman"/>
              </a:rPr>
              <a:t>name, type &amp; where hosted — In-memory KD-Tree &amp; Spatial Grid</a:t>
            </a:r>
          </a:p>
          <a:p>
            <a:r>
              <a:rPr b="1" sz="1300">
                <a:solidFill>
                  <a:srgbClr val="141C38"/>
                </a:solidFill>
                <a:latin typeface="Times New Roman"/>
              </a:rPr>
              <a:t>• In-Memory FLANN KD-Tree: </a:t>
            </a:r>
            <a:r>
              <a:rPr sz="1250">
                <a:solidFill>
                  <a:srgbClr val="212B3E"/>
                </a:solidFill>
                <a:latin typeface="Times New Roman"/>
              </a:rPr>
              <a:t>Pinecone ya Milvus cloud DB ki jarurat nahi hai. High-speed C++ FLANN KD-Tree index memory me keypoint descriptors ko microsecond latency me query karta hai.</a:t>
            </a:r>
          </a:p>
          <a:p>
            <a:pPr>
              <a:spcBef>
                <a:spcPts val="500"/>
              </a:spcBef>
            </a:pPr>
            <a:r>
              <a:rPr b="1" sz="1300">
                <a:solidFill>
                  <a:srgbClr val="141C38"/>
                </a:solidFill>
                <a:latin typeface="Times New Roman"/>
              </a:rPr>
              <a:t>• 8x8 Spatial Grid Index: </a:t>
            </a:r>
            <a:r>
              <a:rPr sz="1250">
                <a:solidFill>
                  <a:srgbClr val="212B3E"/>
                </a:solidFill>
                <a:latin typeface="Times New Roman"/>
              </a:rPr>
              <a:t>Screen ko 64 spatial cells (8x8) me divide karke match count monitor kiya jata hai taaki features poori moon surface par uniformly spread hon.</a:t>
            </a:r>
          </a:p>
          <a:p>
            <a:pPr>
              <a:spcBef>
                <a:spcPts val="500"/>
              </a:spcBef>
            </a:pPr>
            <a:r>
              <a:rPr b="1" sz="1300">
                <a:solidFill>
                  <a:srgbClr val="141C38"/>
                </a:solidFill>
                <a:latin typeface="Times New Roman"/>
              </a:rPr>
              <a:t>• Convex Hull Area Indexing: </a:t>
            </a:r>
            <a:r>
              <a:rPr sz="1250">
                <a:solidFill>
                  <a:srgbClr val="212B3E"/>
                </a:solidFill>
                <a:latin typeface="Times New Roman"/>
              </a:rPr>
              <a:t>Validates that inliers span &gt; 94% of the shared image overlap region.</a:t>
            </a:r>
          </a:p>
        </p:txBody>
      </p:sp>
      <p:sp>
        <p:nvSpPr>
          <p:cNvPr id="14" name="Rounded Rectangle 13"/>
          <p:cNvSpPr/>
          <p:nvPr/>
        </p:nvSpPr>
        <p:spPr>
          <a:xfrm>
            <a:off x="6199632" y="3886200"/>
            <a:ext cx="5257800" cy="242316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4224" y="3977640"/>
            <a:ext cx="4928616" cy="2240280"/>
          </a:xfrm>
          <a:prstGeom prst="rect">
            <a:avLst/>
          </a:prstGeom>
          <a:noFill/>
        </p:spPr>
        <p:txBody>
          <a:bodyPr wrap="square" tIns="36576" bIns="36576" lIns="109728" rIns="109728">
            <a:spAutoFit/>
          </a:bodyPr>
          <a:lstStyle/>
          <a:p>
            <a:r>
              <a:rPr sz="1500" b="1">
                <a:solidFill>
                  <a:srgbClr val="141C38"/>
                </a:solidFill>
                <a:latin typeface="Times New Roman"/>
              </a:rPr>
              <a:t>Chunking / Embedding Notes</a:t>
            </a:r>
          </a:p>
          <a:p>
            <a:pPr>
              <a:spcAft>
                <a:spcPts val="400"/>
              </a:spcAft>
            </a:pPr>
            <a:r>
              <a:rPr sz="1100" i="1">
                <a:solidFill>
                  <a:srgbClr val="64748B"/>
                </a:solidFill>
                <a:latin typeface="Times New Roman"/>
              </a:rPr>
              <a:t>embedding model, top-k, privacy/redaction step, or N/A</a:t>
            </a:r>
          </a:p>
          <a:p>
            <a:r>
              <a:rPr b="1" sz="1300">
                <a:solidFill>
                  <a:srgbClr val="141C38"/>
                </a:solidFill>
                <a:latin typeface="Times New Roman"/>
              </a:rPr>
              <a:t>• Vision Embeddings (LoFTR / SIFT): </a:t>
            </a:r>
            <a:r>
              <a:rPr sz="1250">
                <a:solidFill>
                  <a:srgbClr val="212B3E"/>
                </a:solidFill>
                <a:latin typeface="Times New Roman"/>
              </a:rPr>
              <a:t>LoFTR visual transformer features (256-dim feature maps) aur SIFT gradients (128-dim orientation histograms) local crater topography capture karte hain.</a:t>
            </a:r>
          </a:p>
          <a:p>
            <a:pPr>
              <a:spcBef>
                <a:spcPts val="500"/>
              </a:spcBef>
            </a:pPr>
            <a:r>
              <a:rPr b="1" sz="1300">
                <a:solidFill>
                  <a:srgbClr val="141C38"/>
                </a:solidFill>
                <a:latin typeface="Times New Roman"/>
              </a:rPr>
              <a:t>• Multi-Scale Tiling Chunking: </a:t>
            </a:r>
            <a:r>
              <a:rPr sz="1250">
                <a:solidFill>
                  <a:srgbClr val="212B3E"/>
                </a:solidFill>
                <a:latin typeface="Times New Roman"/>
              </a:rPr>
              <a:t>Gigapixel satellite strips ko 1024x1024 overlapping patches me chunk kiya jata hai taaki RAM overflow na ho aur 20x scale difference bridge ho sake.</a:t>
            </a:r>
          </a:p>
          <a:p>
            <a:pPr>
              <a:spcBef>
                <a:spcPts val="500"/>
              </a:spcBef>
            </a:pPr>
            <a:r>
              <a:rPr b="1" sz="1300">
                <a:solidFill>
                  <a:srgbClr val="141C38"/>
                </a:solidFill>
                <a:latin typeface="Times New Roman"/>
              </a:rPr>
              <a:t>• CLAHE Dynamic Range Normalization: </a:t>
            </a:r>
            <a:r>
              <a:rPr sz="1250">
                <a:solidFill>
                  <a:srgbClr val="212B3E"/>
                </a:solidFill>
                <a:latin typeface="Times New Roman"/>
              </a:rPr>
              <a:t>16-bit PDS4 radiance raw values ko 8-bit contrast-enhanced representations me normalize kiya jata hai.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94360" cy="59436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Times New Roman"/>
              </a:rPr>
              <a:t>7</a:t>
            </a:r>
          </a:p>
        </p:txBody>
      </p:sp>
      <p:sp>
        <p:nvSpPr>
          <p:cNvPr id="4" name="TextBox 3"/>
          <p:cNvSpPr txBox="1"/>
          <p:nvPr/>
        </p:nvSpPr>
        <p:spPr>
          <a:xfrm>
            <a:off x="1463040" y="347472"/>
            <a:ext cx="10058400" cy="384048"/>
          </a:xfrm>
          <a:prstGeom prst="rect">
            <a:avLst/>
          </a:prstGeom>
          <a:noFill/>
        </p:spPr>
        <p:txBody>
          <a:bodyPr wrap="square">
            <a:spAutoFit/>
          </a:bodyPr>
          <a:lstStyle/>
          <a:p>
            <a:r>
              <a:rPr sz="2500" b="1">
                <a:solidFill>
                  <a:srgbClr val="141C38"/>
                </a:solidFill>
                <a:latin typeface="Times New Roman"/>
              </a:rPr>
              <a:t>Data Flow</a:t>
            </a:r>
          </a:p>
        </p:txBody>
      </p:sp>
      <p:sp>
        <p:nvSpPr>
          <p:cNvPr id="5" name="TextBox 4"/>
          <p:cNvSpPr txBox="1"/>
          <p:nvPr/>
        </p:nvSpPr>
        <p:spPr>
          <a:xfrm>
            <a:off x="731520" y="987552"/>
            <a:ext cx="10789920" cy="292608"/>
          </a:xfrm>
          <a:prstGeom prst="rect">
            <a:avLst/>
          </a:prstGeom>
          <a:noFill/>
        </p:spPr>
        <p:txBody>
          <a:bodyPr wrap="square">
            <a:spAutoFit/>
          </a:bodyPr>
          <a:lstStyle/>
          <a:p>
            <a:r>
              <a:rPr sz="1250" i="1">
                <a:solidFill>
                  <a:srgbClr val="64748B"/>
                </a:solidFill>
                <a:latin typeface="Times New Roman"/>
              </a:rPr>
              <a:t>User input › Normalise / Prep › Feature Match › Geometric Align › Quality QA / Output</a:t>
            </a:r>
          </a:p>
        </p:txBody>
      </p:sp>
      <p:sp>
        <p:nvSpPr>
          <p:cNvPr id="6" name="TextBox 5"/>
          <p:cNvSpPr txBox="1"/>
          <p:nvPr/>
        </p:nvSpPr>
        <p:spPr>
          <a:xfrm>
            <a:off x="731520" y="6446520"/>
            <a:ext cx="9144000" cy="320040"/>
          </a:xfrm>
          <a:prstGeom prst="rect">
            <a:avLst/>
          </a:prstGeom>
          <a:noFill/>
        </p:spPr>
        <p:txBody>
          <a:bodyPr wrap="none">
            <a:spAutoFit/>
          </a:bodyPr>
          <a:lstStyle/>
          <a:p>
            <a:r>
              <a:rPr sz="1100">
                <a:solidFill>
                  <a:srgbClr val="94A3B8"/>
                </a:solidFill>
                <a:latin typeface="Times New Roman"/>
              </a:rPr>
              <a:t>Agent Architecture Blueprint · fill in for your agent (Lunar-X Home Page)</a:t>
            </a:r>
          </a:p>
        </p:txBody>
      </p:sp>
      <p:sp>
        <p:nvSpPr>
          <p:cNvPr id="7" name="TextBox 6"/>
          <p:cNvSpPr txBox="1"/>
          <p:nvPr/>
        </p:nvSpPr>
        <p:spPr>
          <a:xfrm>
            <a:off x="10972800" y="6446520"/>
            <a:ext cx="731520" cy="320040"/>
          </a:xfrm>
          <a:prstGeom prst="rect">
            <a:avLst/>
          </a:prstGeom>
          <a:noFill/>
        </p:spPr>
        <p:txBody>
          <a:bodyPr wrap="none">
            <a:spAutoFit/>
          </a:bodyPr>
          <a:lstStyle/>
          <a:p>
            <a:pPr algn="r"/>
            <a:r>
              <a:rPr sz="1100">
                <a:solidFill>
                  <a:srgbClr val="94A3B8"/>
                </a:solidFill>
                <a:latin typeface="Times New Roman"/>
              </a:rPr>
              <a:t>9</a:t>
            </a:r>
          </a:p>
        </p:txBody>
      </p:sp>
      <p:sp>
        <p:nvSpPr>
          <p:cNvPr id="8" name="Rounded Rectangle 7"/>
          <p:cNvSpPr/>
          <p:nvPr/>
        </p:nvSpPr>
        <p:spPr>
          <a:xfrm>
            <a:off x="731520" y="1325880"/>
            <a:ext cx="6583680" cy="498348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2_pipeline_flowchart.png"/>
          <p:cNvPicPr>
            <a:picLocks noChangeAspect="1"/>
          </p:cNvPicPr>
          <p:nvPr/>
        </p:nvPicPr>
        <p:blipFill>
          <a:blip r:embed="rId2"/>
          <a:stretch>
            <a:fillRect/>
          </a:stretch>
        </p:blipFill>
        <p:spPr>
          <a:xfrm>
            <a:off x="868680" y="1554480"/>
            <a:ext cx="6309360" cy="4480560"/>
          </a:xfrm>
          <a:prstGeom prst="rect">
            <a:avLst/>
          </a:prstGeom>
        </p:spPr>
      </p:pic>
      <p:sp>
        <p:nvSpPr>
          <p:cNvPr id="10" name="Rounded Rectangle 9"/>
          <p:cNvSpPr/>
          <p:nvPr/>
        </p:nvSpPr>
        <p:spPr>
          <a:xfrm>
            <a:off x="7498079" y="1325880"/>
            <a:ext cx="3962095" cy="498348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62671" y="1417320"/>
            <a:ext cx="3632911" cy="4800600"/>
          </a:xfrm>
          <a:prstGeom prst="rect">
            <a:avLst/>
          </a:prstGeom>
          <a:noFill/>
        </p:spPr>
        <p:txBody>
          <a:bodyPr wrap="square" tIns="36576" bIns="36576" lIns="109728" rIns="109728">
            <a:spAutoFit/>
          </a:bodyPr>
          <a:lstStyle/>
          <a:p>
            <a:r>
              <a:rPr sz="1500" b="1">
                <a:solidFill>
                  <a:srgbClr val="141C38"/>
                </a:solidFill>
                <a:latin typeface="Times New Roman"/>
              </a:rPr>
              <a:t>Exact Step-by-Step Flow</a:t>
            </a:r>
          </a:p>
          <a:p>
            <a:pPr>
              <a:spcAft>
                <a:spcPts val="400"/>
              </a:spcAft>
            </a:pPr>
            <a:r>
              <a:rPr sz="1100" i="1">
                <a:solidFill>
                  <a:srgbClr val="64748B"/>
                </a:solidFill>
                <a:latin typeface="Times New Roman"/>
              </a:rPr>
              <a:t>How a user request travels through Lunar-X</a:t>
            </a:r>
          </a:p>
          <a:p>
            <a:pPr>
              <a:spcBef>
                <a:spcPts val="500"/>
              </a:spcBef>
            </a:pPr>
            <a:r>
              <a:rPr b="1" sz="1200">
                <a:solidFill>
                  <a:srgbClr val="141C38"/>
                </a:solidFill>
                <a:latin typeface="Times New Roman"/>
              </a:rPr>
              <a:t>Step 1: User Input &amp; Preset Loading</a:t>
            </a:r>
          </a:p>
          <a:p>
            <a:r>
              <a:rPr sz="1050">
                <a:solidFill>
                  <a:srgbClr val="212B3E"/>
                </a:solidFill>
                <a:latin typeface="Times New Roman"/>
              </a:rPr>
              <a:t>User Home page par do lunar images select karta hai (ya custom GeoTIFF upload karta hai) aur matching configuration set karta hai.</a:t>
            </a:r>
          </a:p>
          <a:p>
            <a:pPr>
              <a:spcBef>
                <a:spcPts val="500"/>
              </a:spcBef>
            </a:pPr>
            <a:r>
              <a:rPr b="1" sz="1200">
                <a:solidFill>
                  <a:srgbClr val="141C38"/>
                </a:solidFill>
                <a:latin typeface="Times New Roman"/>
              </a:rPr>
              <a:t>Step 2: CLAHE &amp; Illumination Normalization</a:t>
            </a:r>
          </a:p>
          <a:p>
            <a:r>
              <a:rPr sz="1050">
                <a:solidFill>
                  <a:srgbClr val="212B3E"/>
                </a:solidFill>
                <a:latin typeface="Times New Roman"/>
              </a:rPr>
              <a:t>Sun angle aur dark crater shadows ko equalize karne ke liye CLAHE filter chalta hai taaki lighting conditions feature matching me rukawat na banein.</a:t>
            </a:r>
          </a:p>
          <a:p>
            <a:pPr>
              <a:spcBef>
                <a:spcPts val="500"/>
              </a:spcBef>
            </a:pPr>
            <a:r>
              <a:rPr b="1" sz="1200">
                <a:solidFill>
                  <a:srgbClr val="141C38"/>
                </a:solidFill>
                <a:latin typeface="Times New Roman"/>
              </a:rPr>
              <a:t>Step 3: Adaptive Feature Matching</a:t>
            </a:r>
          </a:p>
          <a:p>
            <a:r>
              <a:rPr sz="1050">
                <a:solidFill>
                  <a:srgbClr val="212B3E"/>
                </a:solidFill>
                <a:latin typeface="Times New Roman"/>
              </a:rPr>
              <a:t>Vision engine SIFT ya LoFTR run karke lunar surface par thousands of candidate points detect karta hai aur initial match vectors banata hai.</a:t>
            </a:r>
          </a:p>
          <a:p>
            <a:pPr>
              <a:spcBef>
                <a:spcPts val="500"/>
              </a:spcBef>
            </a:pPr>
            <a:r>
              <a:rPr b="1" sz="1200">
                <a:solidFill>
                  <a:srgbClr val="141C38"/>
                </a:solidFill>
                <a:latin typeface="Times New Roman"/>
              </a:rPr>
              <a:t>Step 4: MAGSAC++ Outlier Rejection</a:t>
            </a:r>
          </a:p>
          <a:p>
            <a:r>
              <a:rPr sz="1050">
                <a:solidFill>
                  <a:srgbClr val="212B3E"/>
                </a:solidFill>
                <a:latin typeface="Times New Roman"/>
              </a:rPr>
              <a:t>Robust statistical filter galat aur mismatched points ko filter out karta hai, resulting in 100% verified geometric inliers.</a:t>
            </a:r>
          </a:p>
          <a:p>
            <a:pPr>
              <a:spcBef>
                <a:spcPts val="500"/>
              </a:spcBef>
            </a:pPr>
            <a:r>
              <a:rPr b="1" sz="1200">
                <a:solidFill>
                  <a:srgbClr val="141C38"/>
                </a:solidFill>
                <a:latin typeface="Times New Roman"/>
              </a:rPr>
              <a:t>Step 5: Sub-Pixel Refinement &amp; Warping</a:t>
            </a:r>
          </a:p>
          <a:p>
            <a:r>
              <a:rPr sz="1050">
                <a:solidFill>
                  <a:srgbClr val="212B3E"/>
                </a:solidFill>
                <a:latin typeface="Times New Roman"/>
              </a:rPr>
              <a:t>Sub-pixel gradient optimizer accuracy ko sub-pixel level (&lt; 0.2 px) tak polish karta hai aur Affine/Homography matrix se image warp karta hai.</a:t>
            </a:r>
          </a:p>
          <a:p>
            <a:pPr>
              <a:spcBef>
                <a:spcPts val="500"/>
              </a:spcBef>
            </a:pPr>
            <a:r>
              <a:rPr b="1" sz="1200">
                <a:solidFill>
                  <a:srgbClr val="141C38"/>
                </a:solidFill>
                <a:latin typeface="Times New Roman"/>
              </a:rPr>
              <a:t>Step 6: Live Results on Home Page</a:t>
            </a:r>
          </a:p>
          <a:p>
            <a:r>
              <a:rPr sz="1050">
                <a:solidFill>
                  <a:srgbClr val="212B3E"/>
                </a:solidFill>
                <a:latin typeface="Times New Roman"/>
              </a:rPr>
              <a:t>Screen par interactive swipe viewer, checkerboard view, difference heatmap aur download report ready ho jaati hai.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94360" cy="59436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Times New Roman"/>
              </a:rPr>
              <a:t>8</a:t>
            </a:r>
          </a:p>
        </p:txBody>
      </p:sp>
      <p:sp>
        <p:nvSpPr>
          <p:cNvPr id="4" name="TextBox 3"/>
          <p:cNvSpPr txBox="1"/>
          <p:nvPr/>
        </p:nvSpPr>
        <p:spPr>
          <a:xfrm>
            <a:off x="1463040" y="347472"/>
            <a:ext cx="10058400" cy="384048"/>
          </a:xfrm>
          <a:prstGeom prst="rect">
            <a:avLst/>
          </a:prstGeom>
          <a:noFill/>
        </p:spPr>
        <p:txBody>
          <a:bodyPr wrap="square">
            <a:spAutoFit/>
          </a:bodyPr>
          <a:lstStyle/>
          <a:p>
            <a:r>
              <a:rPr sz="2500" b="1">
                <a:solidFill>
                  <a:srgbClr val="141C38"/>
                </a:solidFill>
                <a:latin typeface="Times New Roman"/>
              </a:rPr>
              <a:t>Storage &amp; State</a:t>
            </a:r>
          </a:p>
        </p:txBody>
      </p:sp>
      <p:sp>
        <p:nvSpPr>
          <p:cNvPr id="5" name="TextBox 4"/>
          <p:cNvSpPr txBox="1"/>
          <p:nvPr/>
        </p:nvSpPr>
        <p:spPr>
          <a:xfrm>
            <a:off x="731520" y="987552"/>
            <a:ext cx="10789920" cy="292608"/>
          </a:xfrm>
          <a:prstGeom prst="rect">
            <a:avLst/>
          </a:prstGeom>
          <a:noFill/>
        </p:spPr>
        <p:txBody>
          <a:bodyPr wrap="square">
            <a:spAutoFit/>
          </a:bodyPr>
          <a:lstStyle/>
          <a:p>
            <a:r>
              <a:rPr sz="1250" i="1">
                <a:solidFill>
                  <a:srgbClr val="64748B"/>
                </a:solidFill>
                <a:latin typeface="Times New Roman"/>
              </a:rPr>
              <a:t>Database(s) used · What is persisted · Environments · Logging</a:t>
            </a:r>
          </a:p>
        </p:txBody>
      </p:sp>
      <p:sp>
        <p:nvSpPr>
          <p:cNvPr id="6" name="TextBox 5"/>
          <p:cNvSpPr txBox="1"/>
          <p:nvPr/>
        </p:nvSpPr>
        <p:spPr>
          <a:xfrm>
            <a:off x="731520" y="6446520"/>
            <a:ext cx="9144000" cy="320040"/>
          </a:xfrm>
          <a:prstGeom prst="rect">
            <a:avLst/>
          </a:prstGeom>
          <a:noFill/>
        </p:spPr>
        <p:txBody>
          <a:bodyPr wrap="none">
            <a:spAutoFit/>
          </a:bodyPr>
          <a:lstStyle/>
          <a:p>
            <a:r>
              <a:rPr sz="1100">
                <a:solidFill>
                  <a:srgbClr val="94A3B8"/>
                </a:solidFill>
                <a:latin typeface="Times New Roman"/>
              </a:rPr>
              <a:t>Agent Architecture Blueprint · fill in for your agent (Lunar-X Home Page)</a:t>
            </a:r>
          </a:p>
        </p:txBody>
      </p:sp>
      <p:sp>
        <p:nvSpPr>
          <p:cNvPr id="7" name="TextBox 6"/>
          <p:cNvSpPr txBox="1"/>
          <p:nvPr/>
        </p:nvSpPr>
        <p:spPr>
          <a:xfrm>
            <a:off x="10972800" y="6446520"/>
            <a:ext cx="731520" cy="320040"/>
          </a:xfrm>
          <a:prstGeom prst="rect">
            <a:avLst/>
          </a:prstGeom>
          <a:noFill/>
        </p:spPr>
        <p:txBody>
          <a:bodyPr wrap="none">
            <a:spAutoFit/>
          </a:bodyPr>
          <a:lstStyle/>
          <a:p>
            <a:pPr algn="r"/>
            <a:r>
              <a:rPr sz="1100">
                <a:solidFill>
                  <a:srgbClr val="94A3B8"/>
                </a:solidFill>
                <a:latin typeface="Times New Roman"/>
              </a:rPr>
              <a:t>10</a:t>
            </a:r>
          </a:p>
        </p:txBody>
      </p:sp>
      <p:sp>
        <p:nvSpPr>
          <p:cNvPr id="8" name="Rounded Rectangle 7"/>
          <p:cNvSpPr/>
          <p:nvPr/>
        </p:nvSpPr>
        <p:spPr>
          <a:xfrm>
            <a:off x="731520" y="1325880"/>
            <a:ext cx="5257800" cy="242316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417320"/>
            <a:ext cx="4928616" cy="2240280"/>
          </a:xfrm>
          <a:prstGeom prst="rect">
            <a:avLst/>
          </a:prstGeom>
          <a:noFill/>
        </p:spPr>
        <p:txBody>
          <a:bodyPr wrap="square" tIns="36576" bIns="36576" lIns="109728" rIns="109728">
            <a:spAutoFit/>
          </a:bodyPr>
          <a:lstStyle/>
          <a:p>
            <a:r>
              <a:rPr sz="1500" b="1">
                <a:solidFill>
                  <a:srgbClr val="141C38"/>
                </a:solidFill>
                <a:latin typeface="Times New Roman"/>
              </a:rPr>
              <a:t>Database(s) Used</a:t>
            </a:r>
          </a:p>
          <a:p>
            <a:pPr>
              <a:spcAft>
                <a:spcPts val="400"/>
              </a:spcAft>
            </a:pPr>
            <a:r>
              <a:rPr sz="1100" i="1">
                <a:solidFill>
                  <a:srgbClr val="64748B"/>
                </a:solidFill>
                <a:latin typeface="Times New Roman"/>
              </a:rPr>
              <a:t>e.g. MongoDB — shared or dedicated? (Filesystem Cache + JSON Store)</a:t>
            </a:r>
          </a:p>
          <a:p>
            <a:r>
              <a:rPr b="1" sz="1150">
                <a:solidFill>
                  <a:srgbClr val="141C38"/>
                </a:solidFill>
                <a:latin typeface="Times New Roman"/>
              </a:rPr>
              <a:t>• Local Spatial Disk Cache: </a:t>
            </a:r>
            <a:r>
              <a:rPr sz="1100">
                <a:solidFill>
                  <a:srgbClr val="212B3E"/>
                </a:solidFill>
                <a:latin typeface="Times New Roman"/>
              </a:rPr>
              <a:t>GeoTIFFs aur output rasters ke liye high-performance local disk storage (`data/outputs/`) use hoti hai, jo satellite files ko bina DB serialization latency ke serve karti hai.</a:t>
            </a:r>
          </a:p>
          <a:p>
            <a:pPr>
              <a:spcBef>
                <a:spcPts val="300"/>
              </a:spcBef>
            </a:pPr>
            <a:r>
              <a:rPr b="1" sz="1150">
                <a:solidFill>
                  <a:srgbClr val="141C38"/>
                </a:solidFill>
                <a:latin typeface="Times New Roman"/>
              </a:rPr>
              <a:t>• Structured JSON Benchmark Store: </a:t>
            </a:r>
            <a:r>
              <a:rPr sz="1100">
                <a:solidFill>
                  <a:srgbClr val="212B3E"/>
                </a:solidFill>
                <a:latin typeface="Times New Roman"/>
              </a:rPr>
              <a:t>Benchmark numbers aur execution runs `benchmark_results.json` me store hote hain for fast retrieval and frontend synchronization.</a:t>
            </a:r>
          </a:p>
          <a:p>
            <a:pPr>
              <a:spcBef>
                <a:spcPts val="300"/>
              </a:spcBef>
            </a:pPr>
            <a:r>
              <a:rPr b="1" sz="1150">
                <a:solidFill>
                  <a:srgbClr val="10B981"/>
                </a:solidFill>
                <a:latin typeface="Times New Roman"/>
              </a:rPr>
              <a:t>• Pluggable MongoDB/PostgreSQL: </a:t>
            </a:r>
            <a:r>
              <a:rPr sz="1100">
                <a:solidFill>
                  <a:srgbClr val="212B3E"/>
                </a:solidFill>
                <a:latin typeface="Times New Roman"/>
              </a:rPr>
              <a:t>Agar multi-user mission control teams ko centralized history chahiye, to MongoDB driver ready hai.</a:t>
            </a:r>
          </a:p>
        </p:txBody>
      </p:sp>
      <p:sp>
        <p:nvSpPr>
          <p:cNvPr id="10" name="Rounded Rectangle 9"/>
          <p:cNvSpPr/>
          <p:nvPr/>
        </p:nvSpPr>
        <p:spPr>
          <a:xfrm>
            <a:off x="6199632" y="1325880"/>
            <a:ext cx="5257800" cy="242316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64224" y="1417320"/>
            <a:ext cx="4928616" cy="2240280"/>
          </a:xfrm>
          <a:prstGeom prst="rect">
            <a:avLst/>
          </a:prstGeom>
          <a:noFill/>
        </p:spPr>
        <p:txBody>
          <a:bodyPr wrap="square" tIns="36576" bIns="36576" lIns="109728" rIns="109728">
            <a:spAutoFit/>
          </a:bodyPr>
          <a:lstStyle/>
          <a:p>
            <a:r>
              <a:rPr sz="1500" b="1">
                <a:solidFill>
                  <a:srgbClr val="141C38"/>
                </a:solidFill>
                <a:latin typeface="Times New Roman"/>
              </a:rPr>
              <a:t>What is Persisted</a:t>
            </a:r>
          </a:p>
          <a:p>
            <a:pPr>
              <a:spcAft>
                <a:spcPts val="400"/>
              </a:spcAft>
            </a:pPr>
            <a:r>
              <a:rPr sz="1100" i="1">
                <a:solidFill>
                  <a:srgbClr val="64748B"/>
                </a:solidFill>
                <a:latin typeface="Times New Roman"/>
              </a:rPr>
              <a:t>quiz answers, chat history, profile — under which user ID / documents</a:t>
            </a:r>
          </a:p>
          <a:p>
            <a:r>
              <a:rPr b="1" sz="1150">
                <a:solidFill>
                  <a:srgbClr val="141C38"/>
                </a:solidFill>
                <a:latin typeface="Times New Roman"/>
              </a:rPr>
              <a:t>• Geometric Transformation Matrices: </a:t>
            </a:r>
            <a:r>
              <a:rPr sz="1100">
                <a:solidFill>
                  <a:srgbClr val="212B3E"/>
                </a:solidFill>
                <a:latin typeface="Times New Roman"/>
              </a:rPr>
              <a:t>Estimated 3x3 Affine / Homography transformation matrices so registrations can be mathematically verified at any later time.</a:t>
            </a:r>
          </a:p>
          <a:p>
            <a:pPr>
              <a:spcBef>
                <a:spcPts val="300"/>
              </a:spcBef>
            </a:pPr>
            <a:r>
              <a:rPr b="1" sz="1150">
                <a:solidFill>
                  <a:srgbClr val="141C38"/>
                </a:solidFill>
                <a:latin typeface="Times New Roman"/>
              </a:rPr>
              <a:t>• Verification Metrics &amp; QA Evidence: </a:t>
            </a:r>
            <a:r>
              <a:rPr sz="1100">
                <a:solidFill>
                  <a:srgbClr val="212B3E"/>
                </a:solidFill>
                <a:latin typeface="Times New Roman"/>
              </a:rPr>
              <a:t>Inliers count, reprojection RMSE (coarse &amp; refined), spatial coverage %, grid cell occupancy %, NCC score, and execution duration.</a:t>
            </a:r>
          </a:p>
          <a:p>
            <a:pPr>
              <a:spcBef>
                <a:spcPts val="300"/>
              </a:spcBef>
            </a:pPr>
            <a:r>
              <a:rPr b="1" sz="1150">
                <a:solidFill>
                  <a:srgbClr val="141C38"/>
                </a:solidFill>
                <a:latin typeface="Times New Roman"/>
              </a:rPr>
              <a:t>• Output Artifacts: </a:t>
            </a:r>
            <a:r>
              <a:rPr sz="1100">
                <a:solidFill>
                  <a:srgbClr val="212B3E"/>
                </a:solidFill>
                <a:latin typeface="Times New Roman"/>
              </a:rPr>
              <a:t>Registered blended images, difference maps, checkerboard images, and full mission report TXT files.</a:t>
            </a:r>
          </a:p>
        </p:txBody>
      </p:sp>
      <p:sp>
        <p:nvSpPr>
          <p:cNvPr id="12" name="Rounded Rectangle 11"/>
          <p:cNvSpPr/>
          <p:nvPr/>
        </p:nvSpPr>
        <p:spPr>
          <a:xfrm>
            <a:off x="731520" y="3886200"/>
            <a:ext cx="5257800" cy="242316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977640"/>
            <a:ext cx="4928616" cy="2240280"/>
          </a:xfrm>
          <a:prstGeom prst="rect">
            <a:avLst/>
          </a:prstGeom>
          <a:noFill/>
        </p:spPr>
        <p:txBody>
          <a:bodyPr wrap="square" tIns="36576" bIns="36576" lIns="109728" rIns="109728">
            <a:spAutoFit/>
          </a:bodyPr>
          <a:lstStyle/>
          <a:p>
            <a:r>
              <a:rPr sz="1500" b="1">
                <a:solidFill>
                  <a:srgbClr val="141C38"/>
                </a:solidFill>
                <a:latin typeface="Times New Roman"/>
              </a:rPr>
              <a:t>Environments</a:t>
            </a:r>
          </a:p>
          <a:p>
            <a:pPr>
              <a:spcAft>
                <a:spcPts val="400"/>
              </a:spcAft>
            </a:pPr>
            <a:r>
              <a:rPr sz="1100" i="1">
                <a:solidFill>
                  <a:srgbClr val="64748B"/>
                </a:solidFill>
                <a:latin typeface="Times New Roman"/>
              </a:rPr>
              <a:t>dev / staging / prod separation</a:t>
            </a:r>
          </a:p>
          <a:p>
            <a:r>
              <a:rPr b="1" sz="1150">
                <a:solidFill>
                  <a:srgbClr val="141C38"/>
                </a:solidFill>
                <a:latin typeface="Times New Roman"/>
              </a:rPr>
              <a:t>• Development (Local Workstation): </a:t>
            </a:r>
            <a:r>
              <a:rPr sz="1100">
                <a:solidFill>
                  <a:srgbClr val="212B3E"/>
                </a:solidFill>
                <a:latin typeface="Times New Roman"/>
              </a:rPr>
              <a:t>Next.js dev server on port 3000 (hot reloading) + FastAPI on port 8000 with auto-reload. Runs on Windows/Linux local environment.</a:t>
            </a:r>
          </a:p>
          <a:p>
            <a:pPr>
              <a:spcBef>
                <a:spcPts val="300"/>
              </a:spcBef>
            </a:pPr>
            <a:r>
              <a:rPr b="1" sz="1150">
                <a:solidFill>
                  <a:srgbClr val="141C38"/>
                </a:solidFill>
                <a:latin typeface="Times New Roman"/>
              </a:rPr>
              <a:t>• Staging (Containerized Sandbox): </a:t>
            </a:r>
            <a:r>
              <a:rPr sz="1100">
                <a:solidFill>
                  <a:srgbClr val="212B3E"/>
                </a:solidFill>
                <a:latin typeface="Times New Roman"/>
              </a:rPr>
              <a:t>Docker container environment mirroring production dependencies, running full 20-test Pytest validation suite.</a:t>
            </a:r>
          </a:p>
          <a:p>
            <a:pPr>
              <a:spcBef>
                <a:spcPts val="300"/>
              </a:spcBef>
            </a:pPr>
            <a:r>
              <a:rPr b="1" sz="1150">
                <a:solidFill>
                  <a:srgbClr val="141C38"/>
                </a:solidFill>
                <a:latin typeface="Times New Roman"/>
              </a:rPr>
              <a:t>• Production (Mission Control): </a:t>
            </a:r>
            <a:r>
              <a:rPr sz="1100">
                <a:solidFill>
                  <a:srgbClr val="212B3E"/>
                </a:solidFill>
                <a:latin typeface="Times New Roman"/>
              </a:rPr>
              <a:t>Optimized Next.js production build (`next build &amp;&amp; next start`) + Multi-worker Uvicorn backend orchestrated via Docker Compose.</a:t>
            </a:r>
          </a:p>
        </p:txBody>
      </p:sp>
      <p:sp>
        <p:nvSpPr>
          <p:cNvPr id="14" name="Rounded Rectangle 13"/>
          <p:cNvSpPr/>
          <p:nvPr/>
        </p:nvSpPr>
        <p:spPr>
          <a:xfrm>
            <a:off x="6199632" y="3886200"/>
            <a:ext cx="5257800" cy="242316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4224" y="3977640"/>
            <a:ext cx="4928616" cy="2240280"/>
          </a:xfrm>
          <a:prstGeom prst="rect">
            <a:avLst/>
          </a:prstGeom>
          <a:noFill/>
        </p:spPr>
        <p:txBody>
          <a:bodyPr wrap="square" tIns="36576" bIns="36576" lIns="109728" rIns="109728">
            <a:spAutoFit/>
          </a:bodyPr>
          <a:lstStyle/>
          <a:p>
            <a:r>
              <a:rPr sz="1500" b="1">
                <a:solidFill>
                  <a:srgbClr val="141C38"/>
                </a:solidFill>
                <a:latin typeface="Times New Roman"/>
              </a:rPr>
              <a:t>Logging &amp; Auditing</a:t>
            </a:r>
          </a:p>
          <a:p>
            <a:pPr>
              <a:spcAft>
                <a:spcPts val="400"/>
              </a:spcAft>
            </a:pPr>
            <a:r>
              <a:rPr sz="1100" i="1">
                <a:solidFill>
                  <a:srgbClr val="64748B"/>
                </a:solidFill>
                <a:latin typeface="Times New Roman"/>
              </a:rPr>
              <a:t>where interactions are logged (file, console, service) — needed for compliance</a:t>
            </a:r>
          </a:p>
          <a:p>
            <a:r>
              <a:rPr b="1" sz="1150">
                <a:solidFill>
                  <a:srgbClr val="141C38"/>
                </a:solidFill>
                <a:latin typeface="Times New Roman"/>
              </a:rPr>
              <a:t>• Structured Console &amp; File Logs: </a:t>
            </a:r>
            <a:r>
              <a:rPr sz="1100">
                <a:solidFill>
                  <a:srgbClr val="212B3E"/>
                </a:solidFill>
                <a:latin typeface="Times New Roman"/>
              </a:rPr>
              <a:t>Standardized Python `logging` with structured tags: `[INGEST]`, `[PREPROCESS]`, `[MATCH]`, `[GEOMETRY]`, `[REFINE]`, `[DONE]`.</a:t>
            </a:r>
          </a:p>
          <a:p>
            <a:pPr>
              <a:spcBef>
                <a:spcPts val="300"/>
              </a:spcBef>
            </a:pPr>
            <a:r>
              <a:rPr b="1" sz="1150">
                <a:solidFill>
                  <a:srgbClr val="141C38"/>
                </a:solidFill>
                <a:latin typeface="Times New Roman"/>
              </a:rPr>
              <a:t>• Real-Time Frontend Console Stream: </a:t>
            </a:r>
            <a:r>
              <a:rPr sz="1100">
                <a:solidFill>
                  <a:srgbClr val="212B3E"/>
                </a:solidFill>
                <a:latin typeface="Times New Roman"/>
              </a:rPr>
              <a:t>Home page screen par live terminal box hai jo user ko step-by-step progress aur execution timing live show karta hai.</a:t>
            </a:r>
          </a:p>
          <a:p>
            <a:pPr>
              <a:spcBef>
                <a:spcPts val="300"/>
              </a:spcBef>
            </a:pPr>
            <a:r>
              <a:rPr b="1" sz="1150">
                <a:solidFill>
                  <a:srgbClr val="141C38"/>
                </a:solidFill>
                <a:latin typeface="Times New Roman"/>
              </a:rPr>
              <a:t>• Compliance &amp; Traceability Audit: </a:t>
            </a:r>
            <a:r>
              <a:rPr sz="1100">
                <a:solidFill>
                  <a:srgbClr val="212B3E"/>
                </a:solidFill>
                <a:latin typeface="Times New Roman"/>
              </a:rPr>
              <a:t>Every alignment run logs exact image hashes, sensor metadata, condition number, and timestamp for strict audit compliance.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94360" cy="59436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Times New Roman"/>
              </a:rPr>
              <a:t>9</a:t>
            </a:r>
          </a:p>
        </p:txBody>
      </p:sp>
      <p:sp>
        <p:nvSpPr>
          <p:cNvPr id="4" name="TextBox 3"/>
          <p:cNvSpPr txBox="1"/>
          <p:nvPr/>
        </p:nvSpPr>
        <p:spPr>
          <a:xfrm>
            <a:off x="1463040" y="347472"/>
            <a:ext cx="10058400" cy="384048"/>
          </a:xfrm>
          <a:prstGeom prst="rect">
            <a:avLst/>
          </a:prstGeom>
          <a:noFill/>
        </p:spPr>
        <p:txBody>
          <a:bodyPr wrap="square">
            <a:spAutoFit/>
          </a:bodyPr>
          <a:lstStyle/>
          <a:p>
            <a:r>
              <a:rPr sz="2500" b="1">
                <a:solidFill>
                  <a:srgbClr val="141C38"/>
                </a:solidFill>
                <a:latin typeface="Times New Roman"/>
              </a:rPr>
              <a:t>Deployment</a:t>
            </a:r>
          </a:p>
        </p:txBody>
      </p:sp>
      <p:sp>
        <p:nvSpPr>
          <p:cNvPr id="5" name="TextBox 4"/>
          <p:cNvSpPr txBox="1"/>
          <p:nvPr/>
        </p:nvSpPr>
        <p:spPr>
          <a:xfrm>
            <a:off x="731520" y="987552"/>
            <a:ext cx="10789920" cy="292608"/>
          </a:xfrm>
          <a:prstGeom prst="rect">
            <a:avLst/>
          </a:prstGeom>
          <a:noFill/>
        </p:spPr>
        <p:txBody>
          <a:bodyPr wrap="square">
            <a:spAutoFit/>
          </a:bodyPr>
          <a:lstStyle/>
          <a:p>
            <a:r>
              <a:rPr sz="1250" i="1">
                <a:solidFill>
                  <a:srgbClr val="64748B"/>
                </a:solidFill>
                <a:latin typeface="Times New Roman"/>
              </a:rPr>
              <a:t>Packaging · Environment variables required · Deploy / hosting notes</a:t>
            </a:r>
          </a:p>
        </p:txBody>
      </p:sp>
      <p:sp>
        <p:nvSpPr>
          <p:cNvPr id="6" name="TextBox 5"/>
          <p:cNvSpPr txBox="1"/>
          <p:nvPr/>
        </p:nvSpPr>
        <p:spPr>
          <a:xfrm>
            <a:off x="731520" y="6446520"/>
            <a:ext cx="9144000" cy="320040"/>
          </a:xfrm>
          <a:prstGeom prst="rect">
            <a:avLst/>
          </a:prstGeom>
          <a:noFill/>
        </p:spPr>
        <p:txBody>
          <a:bodyPr wrap="none">
            <a:spAutoFit/>
          </a:bodyPr>
          <a:lstStyle/>
          <a:p>
            <a:r>
              <a:rPr sz="1100">
                <a:solidFill>
                  <a:srgbClr val="94A3B8"/>
                </a:solidFill>
                <a:latin typeface="Times New Roman"/>
              </a:rPr>
              <a:t>Agent Architecture Blueprint · fill in for your agent (Lunar-X Home Page)</a:t>
            </a:r>
          </a:p>
        </p:txBody>
      </p:sp>
      <p:sp>
        <p:nvSpPr>
          <p:cNvPr id="7" name="TextBox 6"/>
          <p:cNvSpPr txBox="1"/>
          <p:nvPr/>
        </p:nvSpPr>
        <p:spPr>
          <a:xfrm>
            <a:off x="10972800" y="6446520"/>
            <a:ext cx="731520" cy="320040"/>
          </a:xfrm>
          <a:prstGeom prst="rect">
            <a:avLst/>
          </a:prstGeom>
          <a:noFill/>
        </p:spPr>
        <p:txBody>
          <a:bodyPr wrap="none">
            <a:spAutoFit/>
          </a:bodyPr>
          <a:lstStyle/>
          <a:p>
            <a:pPr algn="r"/>
            <a:r>
              <a:rPr sz="1100">
                <a:solidFill>
                  <a:srgbClr val="94A3B8"/>
                </a:solidFill>
                <a:latin typeface="Times New Roman"/>
              </a:rPr>
              <a:t>11</a:t>
            </a:r>
          </a:p>
        </p:txBody>
      </p:sp>
      <p:sp>
        <p:nvSpPr>
          <p:cNvPr id="8" name="Rounded Rectangle 7"/>
          <p:cNvSpPr/>
          <p:nvPr/>
        </p:nvSpPr>
        <p:spPr>
          <a:xfrm>
            <a:off x="731520" y="1298448"/>
            <a:ext cx="10728655" cy="1609344"/>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389888"/>
            <a:ext cx="10399471" cy="1426464"/>
          </a:xfrm>
          <a:prstGeom prst="rect">
            <a:avLst/>
          </a:prstGeom>
          <a:noFill/>
        </p:spPr>
        <p:txBody>
          <a:bodyPr wrap="square" tIns="36576" bIns="36576" lIns="109728" rIns="109728">
            <a:spAutoFit/>
          </a:bodyPr>
          <a:lstStyle/>
          <a:p>
            <a:r>
              <a:rPr sz="1500" b="1">
                <a:solidFill>
                  <a:srgbClr val="141C38"/>
                </a:solidFill>
                <a:latin typeface="Times New Roman"/>
              </a:rPr>
              <a:t>Packaging &amp; Containerization</a:t>
            </a:r>
          </a:p>
          <a:p>
            <a:pPr>
              <a:spcAft>
                <a:spcPts val="400"/>
              </a:spcAft>
            </a:pPr>
            <a:r>
              <a:rPr sz="1100" i="1">
                <a:solidFill>
                  <a:srgbClr val="64748B"/>
                </a:solidFill>
                <a:latin typeface="Times New Roman"/>
              </a:rPr>
              <a:t>Dockerized container — image / build notes (Dockerfile + docker-compose.yml)</a:t>
            </a:r>
          </a:p>
          <a:p>
            <a:pPr>
              <a:spcBef>
                <a:spcPts val="200"/>
              </a:spcBef>
            </a:pPr>
            <a:r>
              <a:rPr b="1" sz="1150">
                <a:solidFill>
                  <a:srgbClr val="141C38"/>
                </a:solidFill>
                <a:latin typeface="Times New Roman"/>
              </a:rPr>
              <a:t>• Containerized Microservices: </a:t>
            </a:r>
            <a:r>
              <a:rPr sz="1100">
                <a:solidFill>
                  <a:srgbClr val="212B3E"/>
                </a:solidFill>
                <a:latin typeface="Times New Roman"/>
              </a:rPr>
              <a:t>Full system is packaged via `Dockerfile` and `docker-compose.yml`. Backend image uses Python 3.10-slim with OpenCV, PyTorch (CPU optimized), and FastAPI.</a:t>
            </a:r>
          </a:p>
          <a:p>
            <a:pPr>
              <a:spcBef>
                <a:spcPts val="200"/>
              </a:spcBef>
            </a:pPr>
            <a:r>
              <a:rPr b="1" sz="1150">
                <a:solidFill>
                  <a:srgbClr val="141C38"/>
                </a:solidFill>
                <a:latin typeface="Times New Roman"/>
              </a:rPr>
              <a:t>• Single-Command Launch: </a:t>
            </a:r>
            <a:r>
              <a:rPr sz="1100">
                <a:solidFill>
                  <a:srgbClr val="212B3E"/>
                </a:solidFill>
                <a:latin typeface="Times New Roman"/>
              </a:rPr>
              <a:t>Simply run `docker-compose up --build` ya local batch file `run_lunar_x.bat` to spin up both frontend console and backend engine automatically.</a:t>
            </a:r>
          </a:p>
          <a:p>
            <a:pPr>
              <a:spcBef>
                <a:spcPts val="200"/>
              </a:spcBef>
            </a:pPr>
            <a:r>
              <a:rPr b="1" sz="1150">
                <a:solidFill>
                  <a:srgbClr val="141C38"/>
                </a:solidFill>
                <a:latin typeface="Times New Roman"/>
              </a:rPr>
              <a:t>• Lightweight Footprint: </a:t>
            </a:r>
            <a:r>
              <a:rPr sz="1100">
                <a:solidFill>
                  <a:srgbClr val="212B3E"/>
                </a:solidFill>
                <a:latin typeface="Times New Roman"/>
              </a:rPr>
              <a:t>No heavy proprietary runtimes. Zero licensing fees, fully reproducible on any Linux, Mac, or Windows machine.</a:t>
            </a:r>
          </a:p>
        </p:txBody>
      </p:sp>
      <p:sp>
        <p:nvSpPr>
          <p:cNvPr id="10" name="Rounded Rectangle 9"/>
          <p:cNvSpPr/>
          <p:nvPr/>
        </p:nvSpPr>
        <p:spPr>
          <a:xfrm>
            <a:off x="731520" y="2980944"/>
            <a:ext cx="10728655" cy="1609344"/>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3072384"/>
            <a:ext cx="10399471" cy="1426464"/>
          </a:xfrm>
          <a:prstGeom prst="rect">
            <a:avLst/>
          </a:prstGeom>
          <a:noFill/>
        </p:spPr>
        <p:txBody>
          <a:bodyPr wrap="square" tIns="36576" bIns="36576" lIns="109728" rIns="109728">
            <a:spAutoFit/>
          </a:bodyPr>
          <a:lstStyle/>
          <a:p>
            <a:r>
              <a:rPr sz="1500" b="1">
                <a:solidFill>
                  <a:srgbClr val="141C38"/>
                </a:solidFill>
                <a:latin typeface="Times New Roman"/>
              </a:rPr>
              <a:t>Environment Variables Required</a:t>
            </a:r>
          </a:p>
          <a:p>
            <a:pPr>
              <a:spcAft>
                <a:spcPts val="400"/>
              </a:spcAft>
            </a:pPr>
            <a:r>
              <a:rPr sz="1100" i="1">
                <a:solidFill>
                  <a:srgbClr val="64748B"/>
                </a:solidFill>
                <a:latin typeface="Times New Roman"/>
              </a:rPr>
              <a:t>config/env vars needed — held centrally in .env, not hardcoded in source code</a:t>
            </a:r>
          </a:p>
          <a:p>
            <a:pPr>
              <a:spcBef>
                <a:spcPts val="200"/>
              </a:spcBef>
            </a:pPr>
            <a:r>
              <a:rPr b="1" sz="1150">
                <a:solidFill>
                  <a:srgbClr val="141C38"/>
                </a:solidFill>
                <a:latin typeface="Times New Roman"/>
              </a:rPr>
              <a:t>• HOST &amp; PORT: </a:t>
            </a:r>
            <a:r>
              <a:rPr sz="1100">
                <a:solidFill>
                  <a:srgbClr val="212B3E"/>
                </a:solidFill>
                <a:latin typeface="Times New Roman"/>
              </a:rPr>
              <a:t>`HOST=0.0.0.0`, `PORT=8000` (FastAPI backend listening port).</a:t>
            </a:r>
          </a:p>
          <a:p>
            <a:pPr>
              <a:spcBef>
                <a:spcPts val="200"/>
              </a:spcBef>
            </a:pPr>
            <a:r>
              <a:rPr b="1" sz="1150">
                <a:solidFill>
                  <a:srgbClr val="141C38"/>
                </a:solidFill>
                <a:latin typeface="Times New Roman"/>
              </a:rPr>
              <a:t>• NEXT_PUBLIC_API_URL: </a:t>
            </a:r>
            <a:r>
              <a:rPr sz="1100">
                <a:solidFill>
                  <a:srgbClr val="212B3E"/>
                </a:solidFill>
                <a:latin typeface="Times New Roman"/>
              </a:rPr>
              <a:t>`http://127.0.0.1:8000` (Bridging Next.js web application to registration backend).</a:t>
            </a:r>
          </a:p>
          <a:p>
            <a:pPr>
              <a:spcBef>
                <a:spcPts val="200"/>
              </a:spcBef>
            </a:pPr>
            <a:r>
              <a:rPr b="1" sz="1150">
                <a:solidFill>
                  <a:srgbClr val="141C38"/>
                </a:solidFill>
                <a:latin typeface="Times New Roman"/>
              </a:rPr>
              <a:t>• COMPUTE_DEVICE &amp; PATHS: </a:t>
            </a:r>
            <a:r>
              <a:rPr sz="1100">
                <a:solidFill>
                  <a:srgbClr val="212B3E"/>
                </a:solidFill>
                <a:latin typeface="Times New Roman"/>
              </a:rPr>
              <a:t>`DEVICE=cpu` (defaults to CPU; switches to `cuda` if NVIDIA GPU is present), `DATA_DIR=./data/raw`, `OUTPUT_DIR=./data/outputs`.</a:t>
            </a:r>
          </a:p>
        </p:txBody>
      </p:sp>
      <p:sp>
        <p:nvSpPr>
          <p:cNvPr id="12" name="Rounded Rectangle 11"/>
          <p:cNvSpPr/>
          <p:nvPr/>
        </p:nvSpPr>
        <p:spPr>
          <a:xfrm>
            <a:off x="731520" y="4663440"/>
            <a:ext cx="10728655" cy="1609344"/>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754880"/>
            <a:ext cx="10399471" cy="1426464"/>
          </a:xfrm>
          <a:prstGeom prst="rect">
            <a:avLst/>
          </a:prstGeom>
          <a:noFill/>
        </p:spPr>
        <p:txBody>
          <a:bodyPr wrap="square" tIns="36576" bIns="36576" lIns="109728" rIns="109728">
            <a:spAutoFit/>
          </a:bodyPr>
          <a:lstStyle/>
          <a:p>
            <a:r>
              <a:rPr sz="1500" b="1">
                <a:solidFill>
                  <a:srgbClr val="141C38"/>
                </a:solidFill>
                <a:latin typeface="Times New Roman"/>
              </a:rPr>
              <a:t>Deploy / Hosting Notes</a:t>
            </a:r>
          </a:p>
          <a:p>
            <a:pPr>
              <a:spcAft>
                <a:spcPts val="400"/>
              </a:spcAft>
            </a:pPr>
            <a:r>
              <a:rPr sz="1100" i="1">
                <a:solidFill>
                  <a:srgbClr val="64748B"/>
                </a:solidFill>
                <a:latin typeface="Times New Roman"/>
              </a:rPr>
              <a:t>where it runs and how it's promoted to mission production</a:t>
            </a:r>
          </a:p>
          <a:p>
            <a:pPr>
              <a:spcBef>
                <a:spcPts val="200"/>
              </a:spcBef>
            </a:pPr>
            <a:r>
              <a:rPr b="1" sz="1150">
                <a:solidFill>
                  <a:srgbClr val="141C38"/>
                </a:solidFill>
                <a:latin typeface="Times New Roman"/>
              </a:rPr>
              <a:t>• Ground Station / On-Premise Air-Gapped: </a:t>
            </a:r>
            <a:r>
              <a:rPr sz="1100">
                <a:solidFill>
                  <a:srgbClr val="212B3E"/>
                </a:solidFill>
                <a:latin typeface="Times New Roman"/>
              </a:rPr>
              <a:t>Primary deployment mode is on-premise at ISRO data processing centers (SAC / ISTRAC) with zero outward internet access required.</a:t>
            </a:r>
          </a:p>
          <a:p>
            <a:pPr>
              <a:spcBef>
                <a:spcPts val="200"/>
              </a:spcBef>
            </a:pPr>
            <a:r>
              <a:rPr b="1" sz="1150">
                <a:solidFill>
                  <a:srgbClr val="141C38"/>
                </a:solidFill>
                <a:latin typeface="Times New Roman"/>
              </a:rPr>
              <a:t>• Cloud Deployment Ready: </a:t>
            </a:r>
            <a:r>
              <a:rPr sz="1100">
                <a:solidFill>
                  <a:srgbClr val="212B3E"/>
                </a:solidFill>
                <a:latin typeface="Times New Roman"/>
              </a:rPr>
              <a:t>Can easily be hosted on AWS GovCloud, Azure, or Kubernetes clusters using the provided Docker container.</a:t>
            </a:r>
          </a:p>
          <a:p>
            <a:pPr>
              <a:spcBef>
                <a:spcPts val="200"/>
              </a:spcBef>
            </a:pPr>
            <a:r>
              <a:rPr b="1" sz="1150">
                <a:solidFill>
                  <a:srgbClr val="141C38"/>
                </a:solidFill>
                <a:latin typeface="Times New Roman"/>
              </a:rPr>
              <a:t>• CI/CD Pipeline Promotion: </a:t>
            </a:r>
            <a:r>
              <a:rPr sz="1100">
                <a:solidFill>
                  <a:srgbClr val="212B3E"/>
                </a:solidFill>
                <a:latin typeface="Times New Roman"/>
              </a:rPr>
              <a:t>Automated Pytest test suite runs before any promotion to ensure RMSE does not exceed threshold on reference benchmark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94360" cy="59436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Times New Roman"/>
              </a:rPr>
              <a:t>10</a:t>
            </a:r>
          </a:p>
        </p:txBody>
      </p:sp>
      <p:sp>
        <p:nvSpPr>
          <p:cNvPr id="4" name="TextBox 3"/>
          <p:cNvSpPr txBox="1"/>
          <p:nvPr/>
        </p:nvSpPr>
        <p:spPr>
          <a:xfrm>
            <a:off x="1463040" y="347472"/>
            <a:ext cx="10058400" cy="384048"/>
          </a:xfrm>
          <a:prstGeom prst="rect">
            <a:avLst/>
          </a:prstGeom>
          <a:noFill/>
        </p:spPr>
        <p:txBody>
          <a:bodyPr wrap="square">
            <a:spAutoFit/>
          </a:bodyPr>
          <a:lstStyle/>
          <a:p>
            <a:r>
              <a:rPr sz="2500" b="1">
                <a:solidFill>
                  <a:srgbClr val="141C38"/>
                </a:solidFill>
                <a:latin typeface="Times New Roman"/>
              </a:rPr>
              <a:t>Compliance</a:t>
            </a:r>
          </a:p>
        </p:txBody>
      </p:sp>
      <p:sp>
        <p:nvSpPr>
          <p:cNvPr id="5" name="TextBox 4"/>
          <p:cNvSpPr txBox="1"/>
          <p:nvPr/>
        </p:nvSpPr>
        <p:spPr>
          <a:xfrm>
            <a:off x="731520" y="987552"/>
            <a:ext cx="10789920" cy="292608"/>
          </a:xfrm>
          <a:prstGeom prst="rect">
            <a:avLst/>
          </a:prstGeom>
          <a:noFill/>
        </p:spPr>
        <p:txBody>
          <a:bodyPr wrap="square">
            <a:spAutoFit/>
          </a:bodyPr>
          <a:lstStyle/>
          <a:p>
            <a:r>
              <a:rPr sz="1250" i="1">
                <a:solidFill>
                  <a:srgbClr val="64748B"/>
                </a:solidFill>
                <a:latin typeface="Times New Roman"/>
              </a:rPr>
              <a:t>Address compliance across three angles — Space Data &amp; Mission Ready Standards.</a:t>
            </a:r>
          </a:p>
        </p:txBody>
      </p:sp>
      <p:sp>
        <p:nvSpPr>
          <p:cNvPr id="6" name="TextBox 5"/>
          <p:cNvSpPr txBox="1"/>
          <p:nvPr/>
        </p:nvSpPr>
        <p:spPr>
          <a:xfrm>
            <a:off x="731520" y="6446520"/>
            <a:ext cx="9144000" cy="320040"/>
          </a:xfrm>
          <a:prstGeom prst="rect">
            <a:avLst/>
          </a:prstGeom>
          <a:noFill/>
        </p:spPr>
        <p:txBody>
          <a:bodyPr wrap="none">
            <a:spAutoFit/>
          </a:bodyPr>
          <a:lstStyle/>
          <a:p>
            <a:r>
              <a:rPr sz="1100">
                <a:solidFill>
                  <a:srgbClr val="94A3B8"/>
                </a:solidFill>
                <a:latin typeface="Times New Roman"/>
              </a:rPr>
              <a:t>Agent Architecture Blueprint · fill in for your agent (Lunar-X Home Page)</a:t>
            </a:r>
          </a:p>
        </p:txBody>
      </p:sp>
      <p:sp>
        <p:nvSpPr>
          <p:cNvPr id="7" name="TextBox 6"/>
          <p:cNvSpPr txBox="1"/>
          <p:nvPr/>
        </p:nvSpPr>
        <p:spPr>
          <a:xfrm>
            <a:off x="10972800" y="6446520"/>
            <a:ext cx="731520" cy="320040"/>
          </a:xfrm>
          <a:prstGeom prst="rect">
            <a:avLst/>
          </a:prstGeom>
          <a:noFill/>
        </p:spPr>
        <p:txBody>
          <a:bodyPr wrap="none">
            <a:spAutoFit/>
          </a:bodyPr>
          <a:lstStyle/>
          <a:p>
            <a:pPr algn="r"/>
            <a:r>
              <a:rPr sz="1100">
                <a:solidFill>
                  <a:srgbClr val="94A3B8"/>
                </a:solidFill>
                <a:latin typeface="Times New Roman"/>
              </a:rPr>
              <a:t>12</a:t>
            </a:r>
          </a:p>
        </p:txBody>
      </p:sp>
      <p:sp>
        <p:nvSpPr>
          <p:cNvPr id="8" name="Rounded Rectangle 7"/>
          <p:cNvSpPr/>
          <p:nvPr/>
        </p:nvSpPr>
        <p:spPr>
          <a:xfrm>
            <a:off x="731520" y="1371600"/>
            <a:ext cx="3383280" cy="489204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463040"/>
            <a:ext cx="3054096" cy="4709160"/>
          </a:xfrm>
          <a:prstGeom prst="rect">
            <a:avLst/>
          </a:prstGeom>
          <a:noFill/>
        </p:spPr>
        <p:txBody>
          <a:bodyPr wrap="square" tIns="36576" bIns="36576" lIns="109728" rIns="109728">
            <a:spAutoFit/>
          </a:bodyPr>
          <a:lstStyle/>
          <a:p>
            <a:r>
              <a:rPr sz="1500" b="1">
                <a:solidFill>
                  <a:srgbClr val="141C38"/>
                </a:solidFill>
                <a:latin typeface="Times New Roman"/>
              </a:rPr>
              <a:t>Data Store (At Rest)</a:t>
            </a:r>
          </a:p>
          <a:p>
            <a:pPr>
              <a:spcAft>
                <a:spcPts val="400"/>
              </a:spcAft>
            </a:pPr>
            <a:r>
              <a:rPr sz="1100" i="1">
                <a:solidFill>
                  <a:srgbClr val="64748B"/>
                </a:solidFill>
                <a:latin typeface="Times New Roman"/>
              </a:rPr>
              <a:t>where data lives, ownership, encryption — no unowned accounts</a:t>
            </a:r>
          </a:p>
          <a:p>
            <a:r>
              <a:rPr b="1" sz="1300">
                <a:solidFill>
                  <a:srgbClr val="141C38"/>
                </a:solidFill>
                <a:latin typeface="Times New Roman"/>
              </a:rPr>
              <a:t>• PDS4 Data Standard Compliance:
</a:t>
            </a:r>
            <a:r>
              <a:rPr sz="1200">
                <a:solidFill>
                  <a:srgbClr val="212B3E"/>
                </a:solidFill>
                <a:latin typeface="Times New Roman"/>
              </a:rPr>
              <a:t>Strict adherence to NASA/ISRO Planetary Data System standards. Sabhi orbital images authenticated format me hi read hoti hain.
</a:t>
            </a:r>
            <a:r>
              <a:rPr b="1" sz="1300">
                <a:solidFill>
                  <a:srgbClr val="141C38"/>
                </a:solidFill>
                <a:latin typeface="Times New Roman"/>
              </a:rPr>
              <a:t>• Local Storage Only:
</a:t>
            </a:r>
            <a:r>
              <a:rPr sz="1200">
                <a:solidFill>
                  <a:srgbClr val="212B3E"/>
                </a:solidFill>
                <a:latin typeface="Times New Roman"/>
              </a:rPr>
              <a:t>Satellite data local secure disks par rehta hai. Kisi commercial third-party cloud ya public S3 bucket par data leak nahi hota.
</a:t>
            </a:r>
            <a:r>
              <a:rPr b="1" sz="1300">
                <a:solidFill>
                  <a:srgbClr val="141C38"/>
                </a:solidFill>
                <a:latin typeface="Times New Roman"/>
              </a:rPr>
              <a:t>• Data Integrity Verification:
</a:t>
            </a:r>
            <a:r>
              <a:rPr sz="1200">
                <a:solidFill>
                  <a:srgbClr val="212B3E"/>
                </a:solidFill>
                <a:latin typeface="Times New Roman"/>
              </a:rPr>
              <a:t>SHA-256 checksums and PDS4 label validation verify that raster pixels match original ISRO mission archives without corruption.</a:t>
            </a:r>
          </a:p>
        </p:txBody>
      </p:sp>
      <p:sp>
        <p:nvSpPr>
          <p:cNvPr id="10" name="Rounded Rectangle 9"/>
          <p:cNvSpPr/>
          <p:nvPr/>
        </p:nvSpPr>
        <p:spPr>
          <a:xfrm>
            <a:off x="4389120" y="1371600"/>
            <a:ext cx="3383280" cy="489204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1463040"/>
            <a:ext cx="3054096" cy="4709160"/>
          </a:xfrm>
          <a:prstGeom prst="rect">
            <a:avLst/>
          </a:prstGeom>
          <a:noFill/>
        </p:spPr>
        <p:txBody>
          <a:bodyPr wrap="square" tIns="36576" bIns="36576" lIns="109728" rIns="109728">
            <a:spAutoFit/>
          </a:bodyPr>
          <a:lstStyle/>
          <a:p>
            <a:r>
              <a:rPr sz="1500" b="1">
                <a:solidFill>
                  <a:srgbClr val="141C38"/>
                </a:solidFill>
                <a:latin typeface="Times New Roman"/>
              </a:rPr>
              <a:t>Data in Motion</a:t>
            </a:r>
          </a:p>
          <a:p>
            <a:pPr>
              <a:spcAft>
                <a:spcPts val="400"/>
              </a:spcAft>
            </a:pPr>
            <a:r>
              <a:rPr sz="1100" i="1">
                <a:solidFill>
                  <a:srgbClr val="64748B"/>
                </a:solidFill>
                <a:latin typeface="Times New Roman"/>
              </a:rPr>
              <a:t>how data is protected in transit; redaction of personal info</a:t>
            </a:r>
          </a:p>
          <a:p>
            <a:r>
              <a:rPr b="1" sz="1300">
                <a:solidFill>
                  <a:srgbClr val="141C38"/>
                </a:solidFill>
                <a:latin typeface="Times New Roman"/>
              </a:rPr>
              <a:t>• Internal Network Isolated:
</a:t>
            </a:r>
            <a:r>
              <a:rPr sz="1200">
                <a:solidFill>
                  <a:srgbClr val="212B3E"/>
                </a:solidFill>
                <a:latin typeface="Times New Roman"/>
              </a:rPr>
              <a:t>Frontend aur backend ke beech API calls local machine / internal LAN par loopback hoti hain. No data leaves the premise.
</a:t>
            </a:r>
            <a:r>
              <a:rPr b="1" sz="1300">
                <a:solidFill>
                  <a:srgbClr val="141C38"/>
                </a:solidFill>
                <a:latin typeface="Times New Roman"/>
              </a:rPr>
              <a:t>• TLS / HTTPS Ready:
</a:t>
            </a:r>
            <a:r>
              <a:rPr sz="1200">
                <a:solidFill>
                  <a:srgbClr val="212B3E"/>
                </a:solidFill>
                <a:latin typeface="Times New Roman"/>
              </a:rPr>
              <a:t>Production ingress controller supports end-to-end TLS 1.3 encryption across all communication routes.
</a:t>
            </a:r>
            <a:r>
              <a:rPr b="1" sz="1300">
                <a:solidFill>
                  <a:srgbClr val="10B981"/>
                </a:solidFill>
                <a:latin typeface="Times New Roman"/>
              </a:rPr>
              <a:t>• Zero Telemetry &amp; Tracking:
</a:t>
            </a:r>
            <a:r>
              <a:rPr sz="1200">
                <a:solidFill>
                  <a:srgbClr val="212B3E"/>
                </a:solidFill>
                <a:latin typeface="Times New Roman"/>
              </a:rPr>
              <a:t>Zero Google Analytics, telemetry pings, ya external tracking cookies. Pure scientific tool respecting national space data security.</a:t>
            </a:r>
          </a:p>
        </p:txBody>
      </p:sp>
      <p:sp>
        <p:nvSpPr>
          <p:cNvPr id="12" name="Rounded Rectangle 11"/>
          <p:cNvSpPr/>
          <p:nvPr/>
        </p:nvSpPr>
        <p:spPr>
          <a:xfrm>
            <a:off x="8046720" y="1371600"/>
            <a:ext cx="3383280" cy="489204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1312" y="1463040"/>
            <a:ext cx="3054096" cy="4709160"/>
          </a:xfrm>
          <a:prstGeom prst="rect">
            <a:avLst/>
          </a:prstGeom>
          <a:noFill/>
        </p:spPr>
        <p:txBody>
          <a:bodyPr wrap="square" tIns="36576" bIns="36576" lIns="109728" rIns="109728">
            <a:spAutoFit/>
          </a:bodyPr>
          <a:lstStyle/>
          <a:p>
            <a:r>
              <a:rPr sz="1500" b="1">
                <a:solidFill>
                  <a:srgbClr val="141C38"/>
                </a:solidFill>
                <a:latin typeface="Times New Roman"/>
              </a:rPr>
              <a:t>Infrastructure &amp; Safety</a:t>
            </a:r>
          </a:p>
          <a:p>
            <a:pPr>
              <a:spcAft>
                <a:spcPts val="400"/>
              </a:spcAft>
            </a:pPr>
            <a:r>
              <a:rPr sz="1100" i="1">
                <a:solidFill>
                  <a:srgbClr val="64748B"/>
                </a:solidFill>
                <a:latin typeface="Times New Roman"/>
              </a:rPr>
              <a:t>standards adhered to, access controls, audit / logging posture</a:t>
            </a:r>
          </a:p>
          <a:p>
            <a:r>
              <a:rPr b="1" sz="1300">
                <a:solidFill>
                  <a:srgbClr val="141C38"/>
                </a:solidFill>
                <a:latin typeface="Times New Roman"/>
              </a:rPr>
              <a:t>• Open Source Permissive Licensing:
</a:t>
            </a:r>
            <a:r>
              <a:rPr sz="1200">
                <a:solidFill>
                  <a:srgbClr val="212B3E"/>
                </a:solidFill>
                <a:latin typeface="Times New Roman"/>
              </a:rPr>
              <a:t>All libraries (OpenCV, PyTorch, Next.js) adhere to MIT/Apache 2.0/BSD licenses. Zero proprietary vendor lock-in or recurring fee.
</a:t>
            </a:r>
            <a:r>
              <a:rPr b="1" sz="1300">
                <a:solidFill>
                  <a:srgbClr val="141C38"/>
                </a:solidFill>
                <a:latin typeface="Times New Roman"/>
              </a:rPr>
              <a:t>• Deterministic Space Safety:
</a:t>
            </a:r>
            <a:r>
              <a:rPr sz="1200">
                <a:solidFill>
                  <a:srgbClr val="212B3E"/>
                </a:solidFill>
                <a:latin typeface="Times New Roman"/>
              </a:rPr>
              <a:t>Unlike generative AI which is non-deterministic, our geometric transformations are strictly mathematical, auditable, and repeatable.
</a:t>
            </a:r>
            <a:r>
              <a:rPr b="1" sz="1300">
                <a:solidFill>
                  <a:srgbClr val="141C38"/>
                </a:solidFill>
                <a:latin typeface="Times New Roman"/>
              </a:rPr>
              <a:t>• Defense Network Ready:
</a:t>
            </a:r>
            <a:r>
              <a:rPr sz="1200">
                <a:solidFill>
                  <a:srgbClr val="212B3E"/>
                </a:solidFill>
                <a:latin typeface="Times New Roman"/>
              </a:rPr>
              <a:t>Ready to run inside secure government or defense network boundaries.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94360" cy="59436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Times New Roman"/>
              </a:rPr>
              <a:t>11</a:t>
            </a:r>
          </a:p>
        </p:txBody>
      </p:sp>
      <p:sp>
        <p:nvSpPr>
          <p:cNvPr id="4" name="TextBox 3"/>
          <p:cNvSpPr txBox="1"/>
          <p:nvPr/>
        </p:nvSpPr>
        <p:spPr>
          <a:xfrm>
            <a:off x="1463040" y="347472"/>
            <a:ext cx="10058400" cy="384048"/>
          </a:xfrm>
          <a:prstGeom prst="rect">
            <a:avLst/>
          </a:prstGeom>
          <a:noFill/>
        </p:spPr>
        <p:txBody>
          <a:bodyPr wrap="square">
            <a:spAutoFit/>
          </a:bodyPr>
          <a:lstStyle/>
          <a:p>
            <a:r>
              <a:rPr sz="2500" b="1">
                <a:solidFill>
                  <a:srgbClr val="141C38"/>
                </a:solidFill>
                <a:latin typeface="Times New Roman"/>
              </a:rPr>
              <a:t>Gaps, Risks &amp; Open Items</a:t>
            </a:r>
          </a:p>
        </p:txBody>
      </p:sp>
      <p:sp>
        <p:nvSpPr>
          <p:cNvPr id="5" name="TextBox 4"/>
          <p:cNvSpPr txBox="1"/>
          <p:nvPr/>
        </p:nvSpPr>
        <p:spPr>
          <a:xfrm>
            <a:off x="731520" y="987552"/>
            <a:ext cx="10789920" cy="292608"/>
          </a:xfrm>
          <a:prstGeom prst="rect">
            <a:avLst/>
          </a:prstGeom>
          <a:noFill/>
        </p:spPr>
        <p:txBody>
          <a:bodyPr wrap="square">
            <a:spAutoFit/>
          </a:bodyPr>
          <a:lstStyle/>
          <a:p>
            <a:r>
              <a:rPr sz="1250" i="1">
                <a:solidFill>
                  <a:srgbClr val="64748B"/>
                </a:solidFill>
                <a:latin typeface="Times New Roman"/>
              </a:rPr>
              <a:t>Anything not standard, a dependency on someone else, a payment/token issue, or responsive-design gaps.</a:t>
            </a:r>
          </a:p>
        </p:txBody>
      </p:sp>
      <p:sp>
        <p:nvSpPr>
          <p:cNvPr id="6" name="TextBox 5"/>
          <p:cNvSpPr txBox="1"/>
          <p:nvPr/>
        </p:nvSpPr>
        <p:spPr>
          <a:xfrm>
            <a:off x="731520" y="6446520"/>
            <a:ext cx="9144000" cy="320040"/>
          </a:xfrm>
          <a:prstGeom prst="rect">
            <a:avLst/>
          </a:prstGeom>
          <a:noFill/>
        </p:spPr>
        <p:txBody>
          <a:bodyPr wrap="none">
            <a:spAutoFit/>
          </a:bodyPr>
          <a:lstStyle/>
          <a:p>
            <a:r>
              <a:rPr sz="1100">
                <a:solidFill>
                  <a:srgbClr val="94A3B8"/>
                </a:solidFill>
                <a:latin typeface="Times New Roman"/>
              </a:rPr>
              <a:t>Agent Architecture Blueprint · fill in for your agent (Lunar-X Home Page)</a:t>
            </a:r>
          </a:p>
        </p:txBody>
      </p:sp>
      <p:sp>
        <p:nvSpPr>
          <p:cNvPr id="7" name="TextBox 6"/>
          <p:cNvSpPr txBox="1"/>
          <p:nvPr/>
        </p:nvSpPr>
        <p:spPr>
          <a:xfrm>
            <a:off x="10972800" y="6446520"/>
            <a:ext cx="731520" cy="320040"/>
          </a:xfrm>
          <a:prstGeom prst="rect">
            <a:avLst/>
          </a:prstGeom>
          <a:noFill/>
        </p:spPr>
        <p:txBody>
          <a:bodyPr wrap="none">
            <a:spAutoFit/>
          </a:bodyPr>
          <a:lstStyle/>
          <a:p>
            <a:pPr algn="r"/>
            <a:r>
              <a:rPr sz="1100">
                <a:solidFill>
                  <a:srgbClr val="94A3B8"/>
                </a:solidFill>
                <a:latin typeface="Times New Roman"/>
              </a:rPr>
              <a:t>13</a:t>
            </a:r>
          </a:p>
        </p:txBody>
      </p:sp>
      <p:sp>
        <p:nvSpPr>
          <p:cNvPr id="8" name="Rounded Rectangle 7"/>
          <p:cNvSpPr/>
          <p:nvPr/>
        </p:nvSpPr>
        <p:spPr>
          <a:xfrm>
            <a:off x="731520" y="1325880"/>
            <a:ext cx="10728655" cy="214884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417320"/>
            <a:ext cx="10399471" cy="1965960"/>
          </a:xfrm>
          <a:prstGeom prst="rect">
            <a:avLst/>
          </a:prstGeom>
          <a:noFill/>
        </p:spPr>
        <p:txBody>
          <a:bodyPr wrap="square" tIns="36576" bIns="36576" lIns="109728" rIns="109728">
            <a:spAutoFit/>
          </a:bodyPr>
          <a:lstStyle/>
          <a:p>
            <a:r>
              <a:rPr sz="1500" b="1">
                <a:solidFill>
                  <a:srgbClr val="141C38"/>
                </a:solidFill>
                <a:latin typeface="Times New Roman"/>
              </a:rPr>
              <a:t>Key Space Challenges &amp; Mitigation Strategies (How We Solved Them)</a:t>
            </a:r>
          </a:p>
          <a:p>
            <a:pPr>
              <a:spcAft>
                <a:spcPts val="400"/>
              </a:spcAft>
            </a:pPr>
            <a:r>
              <a:rPr sz="1100" i="1">
                <a:solidFill>
                  <a:srgbClr val="64748B"/>
                </a:solidFill>
                <a:latin typeface="Times New Roman"/>
              </a:rPr>
              <a:t>Real issues encountered with lunar orbital imagery and their concrete engineering solutions</a:t>
            </a:r>
          </a:p>
          <a:p>
            <a:r>
              <a:rPr b="1" sz="1250">
                <a:solidFill>
                  <a:srgbClr val="141C38"/>
                </a:solidFill>
                <a:latin typeface="Times New Roman"/>
              </a:rPr>
              <a:t>• 180° Shadow Inversion (Terminator Shadows): </a:t>
            </a:r>
            <a:r>
              <a:rPr sz="1150">
                <a:solidFill>
                  <a:srgbClr val="212B3E"/>
                </a:solidFill>
                <a:latin typeface="Times New Roman"/>
              </a:rPr>
              <a:t>Moon par jab sun angle badalta hai to shadows completely reverse ho jaati hain. </a:t>
            </a:r>
            <a:r>
              <a:rPr b="1" sz="1150">
                <a:solidFill>
                  <a:srgbClr val="10B981"/>
                </a:solidFill>
                <a:latin typeface="Times New Roman"/>
              </a:rPr>
              <a:t>[Mitigation]: </a:t>
            </a:r>
            <a:r>
              <a:rPr sz="1150">
                <a:solidFill>
                  <a:srgbClr val="212B3E"/>
                </a:solidFill>
                <a:latin typeface="Times New Roman"/>
              </a:rPr>
              <a:t>CLAHE local contrast enhancement aur Sobel gradient orientations use karke intensity differences normalize kiye gaye.</a:t>
            </a:r>
          </a:p>
          <a:p>
            <a:pPr>
              <a:spcBef>
                <a:spcPts val="300"/>
              </a:spcBef>
            </a:pPr>
            <a:r>
              <a:rPr b="1" sz="1250">
                <a:solidFill>
                  <a:srgbClr val="141C38"/>
                </a:solidFill>
                <a:latin typeface="Times New Roman"/>
              </a:rPr>
              <a:t>• 20x Scale Gap (OHRC 25cm vs TMC-2 5m): </a:t>
            </a:r>
            <a:r>
              <a:rPr sz="1150">
                <a:solidFill>
                  <a:srgbClr val="212B3E"/>
                </a:solidFill>
                <a:latin typeface="Times New Roman"/>
              </a:rPr>
              <a:t>Different sensors ke beech pixel resolution me 20x ka farak hota hai. </a:t>
            </a:r>
            <a:r>
              <a:rPr b="1" sz="1150">
                <a:solidFill>
                  <a:srgbClr val="10B981"/>
                </a:solidFill>
                <a:latin typeface="Times New Roman"/>
              </a:rPr>
              <a:t>[Mitigation]: </a:t>
            </a:r>
            <a:r>
              <a:rPr sz="1150">
                <a:solidFill>
                  <a:srgbClr val="212B3E"/>
                </a:solidFill>
                <a:latin typeface="Times New Roman"/>
              </a:rPr>
              <a:t>Multi-scale Gaussian pyramid decomposition and homography affine model selection scale invariant matching provide karte hain.</a:t>
            </a:r>
          </a:p>
          <a:p>
            <a:pPr>
              <a:spcBef>
                <a:spcPts val="300"/>
              </a:spcBef>
            </a:pPr>
            <a:r>
              <a:rPr b="1" sz="1250">
                <a:solidFill>
                  <a:srgbClr val="141C38"/>
                </a:solidFill>
                <a:latin typeface="Times New Roman"/>
              </a:rPr>
              <a:t>• Low-Texture Plain Areas (Mare Basins): </a:t>
            </a:r>
            <a:r>
              <a:rPr sz="1150">
                <a:solidFill>
                  <a:srgbClr val="212B3E"/>
                </a:solidFill>
                <a:latin typeface="Times New Roman"/>
              </a:rPr>
              <a:t>Jahan craters nahi hote wahan traditional keypoints fail ho sakte hain. </a:t>
            </a:r>
            <a:r>
              <a:rPr b="1" sz="1150">
                <a:solidFill>
                  <a:srgbClr val="10B981"/>
                </a:solidFill>
                <a:latin typeface="Times New Roman"/>
              </a:rPr>
              <a:t>[Mitigation]: </a:t>
            </a:r>
            <a:r>
              <a:rPr sz="1150">
                <a:solidFill>
                  <a:srgbClr val="212B3E"/>
                </a:solidFill>
                <a:latin typeface="Times New Roman"/>
              </a:rPr>
              <a:t>LoFTR dense transformer matching use hota hai jo low-contrast plain areas me bhi 4,600+ feature correspondences dhoond nikalta hai.</a:t>
            </a:r>
          </a:p>
        </p:txBody>
      </p:sp>
      <p:sp>
        <p:nvSpPr>
          <p:cNvPr id="10" name="Rounded Rectangle 9"/>
          <p:cNvSpPr/>
          <p:nvPr/>
        </p:nvSpPr>
        <p:spPr>
          <a:xfrm>
            <a:off x="731520" y="3584448"/>
            <a:ext cx="5257800" cy="2724912"/>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3675888"/>
            <a:ext cx="4928616" cy="2542032"/>
          </a:xfrm>
          <a:prstGeom prst="rect">
            <a:avLst/>
          </a:prstGeom>
          <a:noFill/>
        </p:spPr>
        <p:txBody>
          <a:bodyPr wrap="square" tIns="36576" bIns="36576" lIns="109728" rIns="109728">
            <a:spAutoFit/>
          </a:bodyPr>
          <a:lstStyle/>
          <a:p>
            <a:r>
              <a:rPr sz="1500" b="1">
                <a:solidFill>
                  <a:srgbClr val="141C38"/>
                </a:solidFill>
                <a:latin typeface="Times New Roman"/>
              </a:rPr>
              <a:t>Blockers &amp; Dependencies</a:t>
            </a:r>
          </a:p>
          <a:p>
            <a:pPr>
              <a:spcAft>
                <a:spcPts val="400"/>
              </a:spcAft>
            </a:pPr>
            <a:r>
              <a:rPr sz="1100" i="1">
                <a:solidFill>
                  <a:srgbClr val="64748B"/>
                </a:solidFill>
                <a:latin typeface="Times New Roman"/>
              </a:rPr>
              <a:t>who or what you're waiting on</a:t>
            </a:r>
          </a:p>
          <a:p>
            <a:pPr>
              <a:spcBef>
                <a:spcPts val="300"/>
              </a:spcBef>
            </a:pPr>
            <a:r>
              <a:rPr b="1" sz="1150">
                <a:solidFill>
                  <a:srgbClr val="141C38"/>
                </a:solidFill>
                <a:latin typeface="Times New Roman"/>
              </a:rPr>
              <a:t>• Zero External Blockers: </a:t>
            </a:r>
            <a:r>
              <a:rPr sz="1100">
                <a:solidFill>
                  <a:srgbClr val="212B3E"/>
                </a:solidFill>
                <a:latin typeface="Times New Roman"/>
              </a:rPr>
              <a:t>Currently zero external dependencies or blockers exist. Sabhi core modules implement aur benchmark ho chuke hain.</a:t>
            </a:r>
          </a:p>
          <a:p>
            <a:pPr>
              <a:spcBef>
                <a:spcPts val="300"/>
              </a:spcBef>
            </a:pPr>
            <a:r>
              <a:rPr b="1" sz="1150">
                <a:solidFill>
                  <a:srgbClr val="141C38"/>
                </a:solidFill>
                <a:latin typeface="Times New Roman"/>
              </a:rPr>
              <a:t>• Gigapixel Strip Memory Management: </a:t>
            </a:r>
            <a:r>
              <a:rPr sz="1100">
                <a:solidFill>
                  <a:srgbClr val="212B3E"/>
                </a:solidFill>
                <a:latin typeface="Times New Roman"/>
              </a:rPr>
              <a:t>Full orbital strips (50,000 pixels long) can exceed RAM. Solution: Streaming tile processor divides strips into overlapping 2K blocks.</a:t>
            </a:r>
          </a:p>
          <a:p>
            <a:pPr>
              <a:spcBef>
                <a:spcPts val="300"/>
              </a:spcBef>
            </a:pPr>
            <a:r>
              <a:rPr b="1" sz="1150">
                <a:solidFill>
                  <a:srgbClr val="141C38"/>
                </a:solidFill>
                <a:latin typeface="Times New Roman"/>
              </a:rPr>
              <a:t>• IIRS Hyperspectral Integration: </a:t>
            </a:r>
            <a:r>
              <a:rPr sz="1100">
                <a:solidFill>
                  <a:srgbClr val="212B3E"/>
                </a:solidFill>
                <a:latin typeface="Times New Roman"/>
              </a:rPr>
              <a:t>IIRS cube ingestion code is complete; full sensor calibration test is ready for ISRO raw calibrated band files.</a:t>
            </a:r>
          </a:p>
        </p:txBody>
      </p:sp>
      <p:sp>
        <p:nvSpPr>
          <p:cNvPr id="12" name="Rounded Rectangle 11"/>
          <p:cNvSpPr/>
          <p:nvPr/>
        </p:nvSpPr>
        <p:spPr>
          <a:xfrm>
            <a:off x="6199632" y="3584448"/>
            <a:ext cx="5257800" cy="2724912"/>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64224" y="3675888"/>
            <a:ext cx="4928616" cy="2542032"/>
          </a:xfrm>
          <a:prstGeom prst="rect">
            <a:avLst/>
          </a:prstGeom>
          <a:noFill/>
        </p:spPr>
        <p:txBody>
          <a:bodyPr wrap="square" tIns="36576" bIns="36576" lIns="109728" rIns="109728">
            <a:spAutoFit/>
          </a:bodyPr>
          <a:lstStyle/>
          <a:p>
            <a:r>
              <a:rPr sz="1500" b="1">
                <a:solidFill>
                  <a:srgbClr val="141C38"/>
                </a:solidFill>
                <a:latin typeface="Times New Roman"/>
              </a:rPr>
              <a:t>Responsive &amp; Display Status</a:t>
            </a:r>
          </a:p>
          <a:p>
            <a:pPr>
              <a:spcAft>
                <a:spcPts val="400"/>
              </a:spcAft>
            </a:pPr>
            <a:r>
              <a:rPr sz="1100" i="1">
                <a:solidFill>
                  <a:srgbClr val="64748B"/>
                </a:solidFill>
                <a:latin typeface="Times New Roman"/>
              </a:rPr>
              <a:t>does it display correctly on mobile? gaps?</a:t>
            </a:r>
          </a:p>
          <a:p>
            <a:pPr>
              <a:spcBef>
                <a:spcPts val="300"/>
              </a:spcBef>
            </a:pPr>
            <a:r>
              <a:rPr b="1" sz="1150">
                <a:solidFill>
                  <a:srgbClr val="141C38"/>
                </a:solidFill>
                <a:latin typeface="Times New Roman"/>
              </a:rPr>
              <a:t>• Mission Control Optimized: </a:t>
            </a:r>
            <a:r>
              <a:rPr sz="1100">
                <a:solidFill>
                  <a:srgbClr val="212B3E"/>
                </a:solidFill>
                <a:latin typeface="Times New Roman"/>
              </a:rPr>
              <a:t>Designed primarily for large high-resolution desktop and command room screens (1920x1080 and 4K displays) with high data density.</a:t>
            </a:r>
          </a:p>
          <a:p>
            <a:pPr>
              <a:spcBef>
                <a:spcPts val="300"/>
              </a:spcBef>
            </a:pPr>
            <a:r>
              <a:rPr b="1" sz="1150">
                <a:solidFill>
                  <a:srgbClr val="141C38"/>
                </a:solidFill>
                <a:latin typeface="Times New Roman"/>
              </a:rPr>
              <a:t>• Mobile &amp; Tablet Support: </a:t>
            </a:r>
            <a:r>
              <a:rPr sz="1100">
                <a:solidFill>
                  <a:srgbClr val="212B3E"/>
                </a:solidFill>
                <a:latin typeface="Times New Roman"/>
              </a:rPr>
              <a:t>Next.js UI uses flexible responsive grids that gracefully stack on tablets and phones without broken layouts.</a:t>
            </a:r>
          </a:p>
          <a:p>
            <a:pPr>
              <a:spcBef>
                <a:spcPts val="300"/>
              </a:spcBef>
            </a:pPr>
            <a:r>
              <a:rPr b="1" sz="1150">
                <a:solidFill>
                  <a:srgbClr val="141C38"/>
                </a:solidFill>
                <a:latin typeface="Times New Roman"/>
              </a:rPr>
              <a:t>• Touch-Friendly Interaction: </a:t>
            </a:r>
            <a:r>
              <a:rPr sz="1100">
                <a:solidFill>
                  <a:srgbClr val="212B3E"/>
                </a:solidFill>
                <a:latin typeface="Times New Roman"/>
              </a:rPr>
              <a:t>The interactive swipe comparison bar supports touch dragging on tablets as well as standard mouse navigation on PCs.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94360" cy="594360"/>
          </a:xfrm>
          <a:prstGeom prst="roundRect">
            <a:avLst/>
          </a:prstGeom>
          <a:solidFill>
            <a:srgbClr val="141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Times New Roman"/>
              </a:rPr>
              <a:t>12</a:t>
            </a:r>
          </a:p>
        </p:txBody>
      </p:sp>
      <p:sp>
        <p:nvSpPr>
          <p:cNvPr id="4" name="TextBox 3"/>
          <p:cNvSpPr txBox="1"/>
          <p:nvPr/>
        </p:nvSpPr>
        <p:spPr>
          <a:xfrm>
            <a:off x="1463040" y="347472"/>
            <a:ext cx="10058400" cy="384048"/>
          </a:xfrm>
          <a:prstGeom prst="rect">
            <a:avLst/>
          </a:prstGeom>
          <a:noFill/>
        </p:spPr>
        <p:txBody>
          <a:bodyPr wrap="square">
            <a:spAutoFit/>
          </a:bodyPr>
          <a:lstStyle/>
          <a:p>
            <a:r>
              <a:rPr sz="2500" b="1">
                <a:solidFill>
                  <a:srgbClr val="141C38"/>
                </a:solidFill>
                <a:latin typeface="Times New Roman"/>
              </a:rPr>
              <a:t>Deviations from the Common Blueprint</a:t>
            </a:r>
          </a:p>
        </p:txBody>
      </p:sp>
      <p:sp>
        <p:nvSpPr>
          <p:cNvPr id="5" name="TextBox 4"/>
          <p:cNvSpPr txBox="1"/>
          <p:nvPr/>
        </p:nvSpPr>
        <p:spPr>
          <a:xfrm>
            <a:off x="731520" y="987552"/>
            <a:ext cx="10789920" cy="292608"/>
          </a:xfrm>
          <a:prstGeom prst="rect">
            <a:avLst/>
          </a:prstGeom>
          <a:noFill/>
        </p:spPr>
        <p:txBody>
          <a:bodyPr wrap="square">
            <a:spAutoFit/>
          </a:bodyPr>
          <a:lstStyle/>
          <a:p>
            <a:r>
              <a:rPr sz="1250" i="1">
                <a:solidFill>
                  <a:srgbClr val="64748B"/>
                </a:solidFill>
                <a:latin typeface="Times New Roman"/>
              </a:rPr>
              <a:t>If your agent does anything differently from the others (different LLM, RAG, or API), note it here — and why.</a:t>
            </a:r>
          </a:p>
        </p:txBody>
      </p:sp>
      <p:sp>
        <p:nvSpPr>
          <p:cNvPr id="6" name="TextBox 5"/>
          <p:cNvSpPr txBox="1"/>
          <p:nvPr/>
        </p:nvSpPr>
        <p:spPr>
          <a:xfrm>
            <a:off x="731520" y="6446520"/>
            <a:ext cx="9144000" cy="320040"/>
          </a:xfrm>
          <a:prstGeom prst="rect">
            <a:avLst/>
          </a:prstGeom>
          <a:noFill/>
        </p:spPr>
        <p:txBody>
          <a:bodyPr wrap="none">
            <a:spAutoFit/>
          </a:bodyPr>
          <a:lstStyle/>
          <a:p>
            <a:r>
              <a:rPr sz="1100">
                <a:solidFill>
                  <a:srgbClr val="94A3B8"/>
                </a:solidFill>
                <a:latin typeface="Times New Roman"/>
              </a:rPr>
              <a:t>Agent Architecture Blueprint · fill in for your agent (Lunar-X Home Page)</a:t>
            </a:r>
          </a:p>
        </p:txBody>
      </p:sp>
      <p:sp>
        <p:nvSpPr>
          <p:cNvPr id="7" name="TextBox 6"/>
          <p:cNvSpPr txBox="1"/>
          <p:nvPr/>
        </p:nvSpPr>
        <p:spPr>
          <a:xfrm>
            <a:off x="10972800" y="6446520"/>
            <a:ext cx="731520" cy="320040"/>
          </a:xfrm>
          <a:prstGeom prst="rect">
            <a:avLst/>
          </a:prstGeom>
          <a:noFill/>
        </p:spPr>
        <p:txBody>
          <a:bodyPr wrap="none">
            <a:spAutoFit/>
          </a:bodyPr>
          <a:lstStyle/>
          <a:p>
            <a:pPr algn="r"/>
            <a:r>
              <a:rPr sz="1100">
                <a:solidFill>
                  <a:srgbClr val="94A3B8"/>
                </a:solidFill>
                <a:latin typeface="Times New Roman"/>
              </a:rPr>
              <a:t>14</a:t>
            </a:r>
          </a:p>
        </p:txBody>
      </p:sp>
      <p:sp>
        <p:nvSpPr>
          <p:cNvPr id="8" name="Rounded Rectangle 7"/>
          <p:cNvSpPr/>
          <p:nvPr/>
        </p:nvSpPr>
        <p:spPr>
          <a:xfrm>
            <a:off x="731520" y="1371600"/>
            <a:ext cx="10728655" cy="297180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463040"/>
            <a:ext cx="10399471" cy="2788920"/>
          </a:xfrm>
          <a:prstGeom prst="rect">
            <a:avLst/>
          </a:prstGeom>
          <a:noFill/>
        </p:spPr>
        <p:txBody>
          <a:bodyPr wrap="square" tIns="36576" bIns="36576" lIns="109728" rIns="109728">
            <a:spAutoFit/>
          </a:bodyPr>
          <a:lstStyle/>
          <a:p>
            <a:r>
              <a:rPr sz="1500" b="1">
                <a:solidFill>
                  <a:srgbClr val="141C38"/>
                </a:solidFill>
                <a:latin typeface="Times New Roman"/>
              </a:rPr>
              <a:t>Key Architectural Deviation: Computer Vision Engine instead of Generative LLM</a:t>
            </a:r>
          </a:p>
          <a:p>
            <a:pPr>
              <a:spcAft>
                <a:spcPts val="400"/>
              </a:spcAft>
            </a:pPr>
            <a:r>
              <a:rPr sz="1100" i="1">
                <a:solidFill>
                  <a:srgbClr val="64748B"/>
                </a:solidFill>
                <a:latin typeface="Times New Roman"/>
              </a:rPr>
              <a:t>Why LLM-based approaches are unsuited for planetary orbital registration</a:t>
            </a:r>
          </a:p>
          <a:p>
            <a:pPr>
              <a:spcBef>
                <a:spcPts val="500"/>
              </a:spcBef>
            </a:pPr>
            <a:r>
              <a:rPr b="1" sz="1300">
                <a:solidFill>
                  <a:srgbClr val="141C38"/>
                </a:solidFill>
                <a:latin typeface="Times New Roman"/>
              </a:rPr>
              <a:t>• Sub-Pixel Mathematical Precision: </a:t>
            </a:r>
            <a:r>
              <a:rPr sz="1250">
                <a:solidFill>
                  <a:srgbClr val="212B3E"/>
                </a:solidFill>
                <a:latin typeface="Times New Roman"/>
              </a:rPr>
              <a:t>Satellite image registration requires sub-pixel alignment accuracy (RMSE &lt; 0.2 pixels). Text LLMs generate text tokens and cannot compute pixel-level geometric transforms or affine matrices deterministically.</a:t>
            </a:r>
          </a:p>
          <a:p>
            <a:pPr>
              <a:spcBef>
                <a:spcPts val="500"/>
              </a:spcBef>
            </a:pPr>
            <a:r>
              <a:rPr b="1" sz="1300">
                <a:solidFill>
                  <a:srgbClr val="141C38"/>
                </a:solidFill>
                <a:latin typeface="Times New Roman"/>
              </a:rPr>
              <a:t>• Blazing Fast Speed (0.16s vs 8s): </a:t>
            </a:r>
            <a:r>
              <a:rPr sz="1250">
                <a:solidFill>
                  <a:srgbClr val="212B3E"/>
                </a:solidFill>
                <a:latin typeface="Times New Roman"/>
              </a:rPr>
              <a:t>Classical SIFT runs in 0.16 seconds on standard CPU. An LLM cloud API call takes 5 to 10 seconds per image, introducing massive latency that makes real-time mission navigation impossible.</a:t>
            </a:r>
          </a:p>
          <a:p>
            <a:pPr>
              <a:spcBef>
                <a:spcPts val="500"/>
              </a:spcBef>
            </a:pPr>
            <a:r>
              <a:rPr b="1" sz="1300">
                <a:solidFill>
                  <a:srgbClr val="141C38"/>
                </a:solidFill>
                <a:latin typeface="Times New Roman"/>
              </a:rPr>
              <a:t>• Zero Recurring API Costs: </a:t>
            </a:r>
            <a:r>
              <a:rPr sz="1250">
                <a:solidFill>
                  <a:srgbClr val="212B3E"/>
                </a:solidFill>
                <a:latin typeface="Times New Roman"/>
              </a:rPr>
              <a:t>Processing thousands of orbital strips via commercial LLMs incurs high token costs. Our computer vision pipeline is 100% free and open-source with zero recurring fees.</a:t>
            </a:r>
          </a:p>
          <a:p>
            <a:pPr>
              <a:spcBef>
                <a:spcPts val="500"/>
              </a:spcBef>
            </a:pPr>
            <a:r>
              <a:rPr b="1" sz="1300">
                <a:solidFill>
                  <a:srgbClr val="141C38"/>
                </a:solidFill>
                <a:latin typeface="Times New Roman"/>
              </a:rPr>
              <a:t>• Scientifically Verifiable Proof: </a:t>
            </a:r>
            <a:r>
              <a:rPr sz="1250">
                <a:solidFill>
                  <a:srgbClr val="212B3E"/>
                </a:solidFill>
                <a:latin typeface="Times New Roman"/>
              </a:rPr>
              <a:t>ISRO scientists require verifiable mathematical outputs (inliers count, reprojection error, normalized cross-correlation). Black-box LLM text answers cannot be mathematically audited for space safety.</a:t>
            </a:r>
          </a:p>
        </p:txBody>
      </p:sp>
      <p:sp>
        <p:nvSpPr>
          <p:cNvPr id="10" name="Rounded Rectangle 9"/>
          <p:cNvSpPr/>
          <p:nvPr/>
        </p:nvSpPr>
        <p:spPr>
          <a:xfrm>
            <a:off x="731520" y="4526280"/>
            <a:ext cx="10728655" cy="1783080"/>
          </a:xfrm>
          <a:prstGeom prst="roundRect">
            <a:avLst/>
          </a:prstGeom>
          <a:solidFill>
            <a:srgbClr val="FFFFFF"/>
          </a:solidFill>
          <a:ln w="15240">
            <a:solidFill>
              <a:srgbClr val="D7E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4617720"/>
            <a:ext cx="10399471" cy="1600200"/>
          </a:xfrm>
          <a:prstGeom prst="rect">
            <a:avLst/>
          </a:prstGeom>
          <a:noFill/>
        </p:spPr>
        <p:txBody>
          <a:bodyPr wrap="square" tIns="36576" bIns="36576" lIns="109728" rIns="109728">
            <a:spAutoFit/>
          </a:bodyPr>
          <a:lstStyle/>
          <a:p>
            <a:r>
              <a:rPr sz="1500" b="1">
                <a:solidFill>
                  <a:srgbClr val="141C38"/>
                </a:solidFill>
                <a:latin typeface="Times New Roman"/>
              </a:rPr>
              <a:t>Would you recommend this as the standard?</a:t>
            </a:r>
          </a:p>
          <a:p>
            <a:pPr>
              <a:spcAft>
                <a:spcPts val="400"/>
              </a:spcAft>
            </a:pPr>
            <a:r>
              <a:rPr sz="1100" i="1">
                <a:solidFill>
                  <a:srgbClr val="64748B"/>
                </a:solidFill>
                <a:latin typeface="Times New Roman"/>
              </a:rPr>
              <a:t>Yes / No / Partly — one line on what should become the team default</a:t>
            </a:r>
          </a:p>
          <a:p>
            <a:r>
              <a:rPr b="1" sz="1500">
                <a:solidFill>
                  <a:srgbClr val="10B981"/>
                </a:solidFill>
                <a:latin typeface="Times New Roman"/>
              </a:rPr>
              <a:t>YES — Absolutely Recommended as the Standard for All Spatial &amp; Geospatial Agents!
</a:t>
            </a:r>
            <a:r>
              <a:rPr sz="1350">
                <a:solidFill>
                  <a:srgbClr val="212B3E"/>
                </a:solidFill>
                <a:latin typeface="Times New Roman"/>
              </a:rPr>
              <a:t>Space exploration, autonomous rovers, and planetary satellite processing ke liye Computer Vision + Deep Transformers (LoFTR / SIFT) hi team standard hona chahiye. LLMs ko sirf UI assistance, chatbot guidance, ya mission documentation generation tak seemit rakhna chahiye, core image alignment aur geometric navigation logic me nahi.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05840"/>
            <a:ext cx="10362895" cy="4846320"/>
          </a:xfrm>
          <a:prstGeom prst="roundRect">
            <a:avLst/>
          </a:prstGeom>
          <a:solidFill>
            <a:srgbClr val="223062"/>
          </a:solidFill>
          <a:ln w="19050">
            <a:solidFill>
              <a:srgbClr val="3C5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280160"/>
            <a:ext cx="9631375" cy="4297680"/>
          </a:xfrm>
          <a:prstGeom prst="rect">
            <a:avLst/>
          </a:prstGeom>
          <a:noFill/>
        </p:spPr>
        <p:txBody>
          <a:bodyPr wrap="square">
            <a:spAutoFit/>
          </a:bodyPr>
          <a:lstStyle/>
          <a:p>
            <a:r>
              <a:rPr sz="3200" b="1">
                <a:solidFill>
                  <a:srgbClr val="FFFFFF"/>
                </a:solidFill>
                <a:latin typeface="Times New Roman"/>
              </a:rPr>
              <a:t>Once every agent is documented…</a:t>
            </a:r>
          </a:p>
          <a:p>
            <a:pPr>
              <a:spcBef>
                <a:spcPts val="1200"/>
              </a:spcBef>
            </a:pPr>
            <a:r>
              <a:rPr b="1" sz="1400">
                <a:solidFill>
                  <a:srgbClr val="00D2FF"/>
                </a:solidFill>
                <a:latin typeface="Times New Roman"/>
              </a:rPr>
              <a:t>• Lay all decks side by side: </a:t>
            </a:r>
            <a:r>
              <a:rPr sz="1350">
                <a:solidFill>
                  <a:srgbClr val="FFFFFF"/>
                </a:solidFill>
                <a:latin typeface="Times New Roman"/>
              </a:rPr>
              <a:t>Compare the Vision engines, APIs, spatial indexing, and compliance postures across all planetary mission components.</a:t>
            </a:r>
          </a:p>
          <a:p>
            <a:pPr>
              <a:spcBef>
                <a:spcPts val="1200"/>
              </a:spcBef>
            </a:pPr>
            <a:r>
              <a:rPr b="1" sz="1400">
                <a:solidFill>
                  <a:srgbClr val="00D2FF"/>
                </a:solidFill>
                <a:latin typeface="Times New Roman"/>
              </a:rPr>
              <a:t>• Where agents converge: </a:t>
            </a:r>
            <a:r>
              <a:rPr sz="1350">
                <a:solidFill>
                  <a:srgbClr val="FFFFFF"/>
                </a:solidFill>
                <a:latin typeface="Times New Roman"/>
              </a:rPr>
              <a:t>The SIFT + LoFTR hybrid pipeline becomes the agreed standard ISRO alignment playbook for all Chandrayaan-2 and future missions.</a:t>
            </a:r>
          </a:p>
          <a:p>
            <a:pPr>
              <a:spcBef>
                <a:spcPts val="1200"/>
              </a:spcBef>
            </a:pPr>
            <a:r>
              <a:rPr b="1" sz="1400">
                <a:solidFill>
                  <a:srgbClr val="00D2FF"/>
                </a:solidFill>
                <a:latin typeface="Times New Roman"/>
              </a:rPr>
              <a:t>• Where one is an outlier: </a:t>
            </a:r>
            <a:r>
              <a:rPr sz="1350">
                <a:solidFill>
                  <a:srgbClr val="FFFFFF"/>
                </a:solidFill>
                <a:latin typeface="Times New Roman"/>
              </a:rPr>
              <a:t>Decide: Align it, or adopt specialized vision pipelines as the new default for mission-critical geometric tasks.</a:t>
            </a:r>
          </a:p>
          <a:p>
            <a:pPr>
              <a:spcBef>
                <a:spcPts val="1200"/>
              </a:spcBef>
            </a:pPr>
            <a:r>
              <a:rPr b="1" sz="1400">
                <a:solidFill>
                  <a:srgbClr val="00D2FF"/>
                </a:solidFill>
                <a:latin typeface="Times New Roman"/>
              </a:rPr>
              <a:t>• Publish the agreed choices: </a:t>
            </a:r>
            <a:r>
              <a:rPr sz="1350">
                <a:solidFill>
                  <a:srgbClr val="FFFFFF"/>
                </a:solidFill>
                <a:latin typeface="Times New Roman"/>
              </a:rPr>
              <a:t>Publish the complete verified architecture as the official Lunar-X Planetary Agent Development Playbook.</a:t>
            </a:r>
          </a:p>
          <a:p>
            <a:pPr>
              <a:spcBef>
                <a:spcPts val="1200"/>
              </a:spcBef>
            </a:pPr>
            <a:r>
              <a:rPr b="1" sz="1400">
                <a:solidFill>
                  <a:srgbClr val="00D2FF"/>
                </a:solidFill>
                <a:latin typeface="Times New Roman"/>
              </a:rPr>
              <a:t>• Deliverable Ready for SIH 2026: </a:t>
            </a:r>
            <a:r>
              <a:rPr sz="1350">
                <a:solidFill>
                  <a:srgbClr val="FFFFFF"/>
                </a:solidFill>
                <a:latin typeface="Times New Roman"/>
              </a:rPr>
              <a:t>Fully functional Next.js dashboard + FastAPI engine + 0.148 px verified accuracy ready for live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