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b="1" sz="2800">
                <a:solidFill>
                  <a:srgbClr val="FFFFFF"/>
                </a:solidFill>
              </a:defRPr>
            </a:pPr>
            <a:r>
              <a:t>SMART INDIA HACKATHON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F16A21"/>
          </a:solidFill>
          <a:ln>
            <a:solidFill>
              <a:srgbClr val="F16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1828800"/>
            <a:ext cx="8531352" cy="4114800"/>
          </a:xfrm>
          <a:prstGeom prst="rect">
            <a:avLst/>
          </a:prstGeom>
          <a:solidFill>
            <a:srgbClr val="F5F5F5"/>
          </a:solidFill>
          <a:ln w="38100"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/>
            </a:pPr>
            <a:br/>
            <a:r>
              <a:t>Team Name: [INSERT TEAM NAME]</a:t>
            </a:r>
            <a:br/>
          </a:p>
          <a:p>
            <a:pPr algn="ctr">
              <a:defRPr sz="2800" b="1">
                <a:solidFill>
                  <a:srgbClr val="F16A21"/>
                </a:solidFill>
              </a:defRPr>
            </a:pPr>
            <a:r>
              <a:t>Problem Statement Code: SIH26166</a:t>
            </a:r>
            <a:br/>
          </a:p>
          <a:p>
            <a:pPr algn="ctr">
              <a:defRPr sz="2200" b="1"/>
            </a:pPr>
            <a:r>
              <a:t>Problem Statement Title: Automatic Feature Extraction and Image Registration of Chandrayaan-2 Lunar Imagery (OHRC, TMC-2, IIRS)</a:t>
            </a:r>
          </a:p>
          <a:p>
            <a:br/>
            <a:pPr algn="ctr">
              <a:defRPr sz="2000"/>
            </a:pPr>
            <a:r>
              <a:t>Theme: Space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b="1" sz="2800">
                <a:solidFill>
                  <a:srgbClr val="FFFFFF"/>
                </a:solidFill>
              </a:defRPr>
            </a:pPr>
            <a:r>
              <a:t>SMART INDIA HACKATHON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F16A21"/>
          </a:solidFill>
          <a:ln>
            <a:solidFill>
              <a:srgbClr val="F16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212121"/>
                </a:solidFill>
              </a:defRPr>
            </a:pPr>
            <a:r>
              <a:t>Idea /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/>
            </a:pPr>
            <a:r>
              <a:t>The Problem:</a:t>
            </a:r>
          </a:p>
          <a:p>
            <a:pPr>
              <a:defRPr sz="2000"/>
            </a:pPr>
            <a:r>
              <a:t>- Lack of illumination inside deep lunar craters.</a:t>
            </a:r>
            <a:br/>
            <a:r>
              <a:t>- Drastic scale differences (25cm OHRC vs 5m TMC-2).</a:t>
            </a:r>
            <a:br/>
            <a:r>
              <a:t>- Existing algorithms (SIFT/ORB) fail due to shadows and scale gaps.</a:t>
            </a:r>
          </a:p>
          <a:p>
            <a:br/>
            <a:pPr>
              <a:defRPr b="1" sz="2400">
                <a:solidFill>
                  <a:srgbClr val="F16A21"/>
                </a:solidFill>
              </a:defRPr>
            </a:pPr>
            <a:r>
              <a:t>Our Proposed Solution (Chandra-Align):</a:t>
            </a:r>
          </a:p>
          <a:p>
            <a:pPr>
              <a:defRPr sz="2000"/>
            </a:pPr>
            <a:r>
              <a:t>- Adaptive CLAHE Preprocessing to extract faint crater reflections.</a:t>
            </a:r>
            <a:br/>
            <a:r>
              <a:t>- Transformer-based LoFTR / SuperPoint matching for scale-invariant features.</a:t>
            </a:r>
            <a:br/>
            <a:r>
              <a:t>- MAGSAC++ for robust, sub-pixel accurate global registration.</a:t>
            </a:r>
          </a:p>
        </p:txBody>
      </p:sp>
      <p:pic>
        <p:nvPicPr>
          <p:cNvPr id="7" name="Picture 6" descr="benchmark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486400" cy="3271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b="1" sz="2800">
                <a:solidFill>
                  <a:srgbClr val="FFFFFF"/>
                </a:solidFill>
              </a:defRPr>
            </a:pPr>
            <a:r>
              <a:t>SMART INDIA HACKATHON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F16A21"/>
          </a:solidFill>
          <a:ln>
            <a:solidFill>
              <a:srgbClr val="F16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212121"/>
                </a:solidFill>
              </a:defRPr>
            </a:pPr>
            <a:r>
              <a:t>Technical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5029200" cy="502920"/>
          </a:xfrm>
          <a:prstGeom prst="rect">
            <a:avLst/>
          </a:prstGeom>
          <a:solidFill>
            <a:srgbClr val="F0F0F0"/>
          </a:solidFill>
          <a:ln>
            <a:solidFill>
              <a:srgbClr val="F16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12121"/>
                </a:solidFill>
              </a:defRPr>
            </a:pPr>
            <a:r>
              <a:t>1. Image Ingestion (PDS4/XML)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468880"/>
            <a:ext cx="5029200" cy="502920"/>
          </a:xfrm>
          <a:prstGeom prst="rect">
            <a:avLst/>
          </a:prstGeom>
          <a:solidFill>
            <a:srgbClr val="F0F0F0"/>
          </a:solidFill>
          <a:ln>
            <a:solidFill>
              <a:srgbClr val="F16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12121"/>
                </a:solidFill>
              </a:defRPr>
            </a:pPr>
            <a:r>
              <a:t>2. Multi-Scale Preprocessing (CLAHE)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108960"/>
            <a:ext cx="5029200" cy="502920"/>
          </a:xfrm>
          <a:prstGeom prst="rect">
            <a:avLst/>
          </a:prstGeom>
          <a:solidFill>
            <a:srgbClr val="F0F0F0"/>
          </a:solidFill>
          <a:ln>
            <a:solidFill>
              <a:srgbClr val="F16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12121"/>
                </a:solidFill>
              </a:defRPr>
            </a:pPr>
            <a:r>
              <a:t>3. Transformer Feature Matching (LoFTR)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749039"/>
            <a:ext cx="5029200" cy="502920"/>
          </a:xfrm>
          <a:prstGeom prst="rect">
            <a:avLst/>
          </a:prstGeom>
          <a:solidFill>
            <a:srgbClr val="F0F0F0"/>
          </a:solidFill>
          <a:ln>
            <a:solidFill>
              <a:srgbClr val="F16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12121"/>
                </a:solidFill>
              </a:defRPr>
            </a:pPr>
            <a:r>
              <a:t>4. Spatial Uniformity Filter (Grid Check)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389120"/>
            <a:ext cx="5029200" cy="502920"/>
          </a:xfrm>
          <a:prstGeom prst="rect">
            <a:avLst/>
          </a:prstGeom>
          <a:solidFill>
            <a:srgbClr val="F0F0F0"/>
          </a:solidFill>
          <a:ln>
            <a:solidFill>
              <a:srgbClr val="F16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12121"/>
                </a:solidFill>
              </a:defRPr>
            </a:pPr>
            <a:r>
              <a:t>5. Sub-Pixel Refinement (CornerSubPix)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029200"/>
            <a:ext cx="5029200" cy="502920"/>
          </a:xfrm>
          <a:prstGeom prst="rect">
            <a:avLst/>
          </a:prstGeom>
          <a:solidFill>
            <a:srgbClr val="F0F0F0"/>
          </a:solidFill>
          <a:ln>
            <a:solidFill>
              <a:srgbClr val="F16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12121"/>
                </a:solidFill>
              </a:defRPr>
            </a:pPr>
            <a:r>
              <a:t>6. Robust Estimation (MAGSAC++)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669279"/>
            <a:ext cx="5029200" cy="502920"/>
          </a:xfrm>
          <a:prstGeom prst="rect">
            <a:avLst/>
          </a:prstGeom>
          <a:solidFill>
            <a:srgbClr val="F0F0F0"/>
          </a:solidFill>
          <a:ln>
            <a:solidFill>
              <a:srgbClr val="F16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12121"/>
                </a:solidFill>
              </a:defRPr>
            </a:pPr>
            <a:r>
              <a:t>7. Seamless Mosaicking</a:t>
            </a:r>
          </a:p>
        </p:txBody>
      </p:sp>
      <p:pic>
        <p:nvPicPr>
          <p:cNvPr id="13" name="Picture 12" descr="rmse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4350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b="1" sz="2800">
                <a:solidFill>
                  <a:srgbClr val="FFFFFF"/>
                </a:solidFill>
              </a:defRPr>
            </a:pPr>
            <a:r>
              <a:t>SMART INDIA HACKATHON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F16A21"/>
          </a:solidFill>
          <a:ln>
            <a:solidFill>
              <a:srgbClr val="F16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212121"/>
                </a:solidFill>
              </a:defRPr>
            </a:pPr>
            <a:r>
              <a:t>Use Cases &amp;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400">
                <a:solidFill>
                  <a:srgbClr val="0072BC"/>
                </a:solidFill>
              </a:defRPr>
            </a:pPr>
            <a:r>
              <a:t>- ISRO PRADAN Portal Integration</a:t>
            </a:r>
          </a:p>
          <a:p>
            <a:pPr>
              <a:defRPr sz="2000"/>
            </a:pPr>
            <a:r>
              <a:t>   Automates seamless ingestion and mosaicking of PDS4 planetary data for public release.</a:t>
            </a:r>
            <a:br/>
          </a:p>
          <a:p>
            <a:pPr>
              <a:defRPr b="1" sz="2400">
                <a:solidFill>
                  <a:srgbClr val="0072BC"/>
                </a:solidFill>
              </a:defRPr>
            </a:pPr>
            <a:r>
              <a:t>- Lunar Crater Water Detection</a:t>
            </a:r>
          </a:p>
          <a:p>
            <a:pPr>
              <a:defRPr sz="2000"/>
            </a:pPr>
            <a:r>
              <a:t>   Accurately aligns multi-temporal orbital passes to track ice signatures in permanently shadowed regions.</a:t>
            </a:r>
            <a:br/>
          </a:p>
          <a:p>
            <a:pPr>
              <a:defRPr b="1" sz="2400">
                <a:solidFill>
                  <a:srgbClr val="0072BC"/>
                </a:solidFill>
              </a:defRPr>
            </a:pPr>
            <a:r>
              <a:t>- Safe Lander Hazard Avoidance</a:t>
            </a:r>
          </a:p>
          <a:p>
            <a:pPr>
              <a:defRPr sz="2000"/>
            </a:pPr>
            <a:r>
              <a:t>   Registers high-res OHRC images onto base maps for precise rover path planning and boulder detection.</a:t>
            </a:r>
            <a:br/>
          </a:p>
          <a:p>
            <a:pPr>
              <a:defRPr b="1" sz="2400">
                <a:solidFill>
                  <a:srgbClr val="0072BC"/>
                </a:solidFill>
              </a:defRPr>
            </a:pPr>
            <a:r>
              <a:t>- Automated Mission Dashboard</a:t>
            </a:r>
          </a:p>
          <a:p>
            <a:pPr>
              <a:defRPr sz="2000"/>
            </a:pPr>
            <a:r>
              <a:t>   Provides real-time sub-pixel accuracy metrics for ISRO scientists via Streamlit UI.</a:t>
            </a:r>
            <a:b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b="1" sz="2800">
                <a:solidFill>
                  <a:srgbClr val="FFFFFF"/>
                </a:solidFill>
              </a:defRPr>
            </a:pPr>
            <a:r>
              <a:t>SMART INDIA HACKATHON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F16A21"/>
          </a:solidFill>
          <a:ln>
            <a:solidFill>
              <a:srgbClr val="F16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212121"/>
                </a:solidFill>
              </a:defRPr>
            </a:pPr>
            <a:r>
              <a:t>Show Stoppers &amp; Risk Mitigation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C80000"/>
                </a:solidFill>
              </a:defRPr>
            </a:pPr>
            <a:r>
              <a:t>Potential Risks (Show Stoppers):</a:t>
            </a:r>
          </a:p>
          <a:p>
            <a:pPr>
              <a:defRPr sz="2000"/>
            </a:pPr>
            <a:r>
              <a:t>1. Extremely Deep Shadows: Complete lack of photon data in craters.</a:t>
            </a:r>
          </a:p>
          <a:p>
            <a:pPr>
              <a:defRPr sz="2000"/>
            </a:pPr>
            <a:r>
              <a:t>2. Featureless Terrain: Some regions lack craters, causing match failure.</a:t>
            </a:r>
          </a:p>
          <a:p>
            <a:pPr>
              <a:defRPr sz="2000"/>
            </a:pPr>
            <a:r>
              <a:t>3. Sub-Pixel Precision Requirement: Rigid affine models drift on uneven terrain.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F16A21"/>
                </a:solidFill>
              </a:defRPr>
            </a:pPr>
            <a:r>
              <a:t>Risk Mitigation &amp; Dependencies:</a:t>
            </a:r>
          </a:p>
          <a:p>
            <a:pPr>
              <a:defRPr sz="2000"/>
            </a:pPr>
            <a:r>
              <a:t>1. CLAHE &amp; LoFTR: Amplifies 2% secondary reflection, LoFTR finds dense feature correlations in low contrast.</a:t>
            </a:r>
          </a:p>
          <a:p>
            <a:pPr>
              <a:defRPr sz="2000"/>
            </a:pPr>
            <a:r>
              <a:t>2. Fallback Mechanisms: Auto-switch from LoFTR to SuperPoint based on grid coverage checks.</a:t>
            </a:r>
          </a:p>
          <a:p>
            <a:pPr>
              <a:defRPr sz="2000"/>
            </a:pPr>
            <a:r>
              <a:t>3. MAGSAC++ / CornerSubPix: Filters noisy matches and snaps to true gradient extrema for &lt;0.15px RMSE.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b="1" sz="2800">
                <a:solidFill>
                  <a:srgbClr val="FFFFFF"/>
                </a:solidFill>
              </a:defRPr>
            </a:pPr>
            <a:r>
              <a:t>SMART INDIA HACKATHON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F16A21"/>
          </a:solidFill>
          <a:ln>
            <a:solidFill>
              <a:srgbClr val="F16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212121"/>
                </a:solidFill>
              </a:defRPr>
            </a:pPr>
            <a:r>
              <a:t>Benchmarking &amp; Feasibility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/>
            </a:pPr>
            <a:r>
              <a:t>Why our solution stands out:</a:t>
            </a:r>
          </a:p>
          <a:p>
            <a:pPr>
              <a:defRPr sz="2000"/>
            </a:pPr>
            <a:r>
              <a:t>- Extreme Accuracy: Verified Coarse RMSE of 0.125px (SIFT) to 0.257px (LoFTR) on real orbital imagery.</a:t>
            </a:r>
          </a:p>
          <a:p>
            <a:pPr>
              <a:defRPr sz="2000"/>
            </a:pPr>
            <a:r>
              <a:t>- Speed: SIFT pipeline executes in ~0.16 seconds, enabling real-time stream ingestion.</a:t>
            </a:r>
          </a:p>
          <a:p>
            <a:pPr>
              <a:defRPr sz="2000"/>
            </a:pPr>
            <a:r>
              <a:t>- Scalable Architecture: Fully containerized (Docker) with a Streamlit Control Dashboard for non-technical users.</a:t>
            </a:r>
          </a:p>
          <a:p>
            <a:pPr>
              <a:defRPr sz="2000"/>
            </a:pPr>
            <a:r>
              <a:t>- Feasibility: Evaluated successfully on actual ISRO TMC-2 multi-orbit imagery.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