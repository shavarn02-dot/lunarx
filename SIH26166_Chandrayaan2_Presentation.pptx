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112772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47472"/>
            <a:ext cx="2926080" cy="32004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🛰️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926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CHANDRA-ALIGN: MULTI-SENSOR SUB-PIXEL LUNAR 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6217920" cy="54864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OFFICIAL PROBLEM STATEMENT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100">
                <a:solidFill>
                  <a:srgbClr val="00E5FF"/>
                </a:solidFill>
              </a:defRPr>
            </a:pPr>
            <a:r>
              <a:t>• Problem Statement ID: </a:t>
            </a:r>
            <a:r>
              <a:rPr b="0" sz="1100">
                <a:solidFill>
                  <a:srgbClr val="FFFFFF"/>
                </a:solidFill>
              </a:rPr>
              <a:t>SIH26166</a:t>
            </a:r>
          </a:p>
          <a:p>
            <a:pPr>
              <a:spcAft>
                <a:spcPts val="800"/>
              </a:spcAft>
              <a:defRPr b="1" sz="1100">
                <a:solidFill>
                  <a:srgbClr val="00E5FF"/>
                </a:solidFill>
              </a:defRPr>
            </a:pPr>
            <a:r>
              <a:t>• Problem Statement Title: </a:t>
            </a:r>
            <a:r>
              <a:rPr b="0" sz="1100">
                <a:solidFill>
                  <a:srgbClr val="FFFFFF"/>
                </a:solidFill>
              </a:rPr>
              <a:t>Automatic Multi-Sensor Feature Extraction and Sub-Pixel Image Registration for Chandrayaan-2 Lunar Imagery (OHRC, TMC-2, IIRS)</a:t>
            </a:r>
          </a:p>
          <a:p>
            <a:pPr>
              <a:spcAft>
                <a:spcPts val="800"/>
              </a:spcAft>
              <a:defRPr b="1" sz="1100">
                <a:solidFill>
                  <a:srgbClr val="00E5FF"/>
                </a:solidFill>
              </a:defRPr>
            </a:pPr>
            <a:r>
              <a:t>• Ministry / Organization: </a:t>
            </a:r>
            <a:r>
              <a:rPr b="0" sz="1100">
                <a:solidFill>
                  <a:srgbClr val="FFFFFF"/>
                </a:solidFill>
              </a:rPr>
              <a:t>Indian Space Research Organisation (ISRO) / Dept. of Space</a:t>
            </a:r>
          </a:p>
          <a:p>
            <a:pPr>
              <a:spcAft>
                <a:spcPts val="800"/>
              </a:spcAft>
              <a:defRPr b="1" sz="1100">
                <a:solidFill>
                  <a:srgbClr val="00E5FF"/>
                </a:solidFill>
              </a:defRPr>
            </a:pPr>
            <a:r>
              <a:t>• Domain &amp; Category: </a:t>
            </a:r>
            <a:r>
              <a:rPr b="0" sz="1100">
                <a:solidFill>
                  <a:srgbClr val="FFFFFF"/>
                </a:solidFill>
              </a:rPr>
              <a:t>Space Technology / Software / Planetary Computer Vision</a:t>
            </a:r>
          </a:p>
          <a:p>
            <a:pPr>
              <a:spcAft>
                <a:spcPts val="800"/>
              </a:spcAft>
              <a:defRPr b="1" sz="1100">
                <a:solidFill>
                  <a:srgbClr val="00E5FF"/>
                </a:solidFill>
              </a:defRPr>
            </a:pPr>
            <a:r>
              <a:t>• Target Payloads: </a:t>
            </a:r>
            <a:r>
              <a:rPr b="0" sz="1100">
                <a:solidFill>
                  <a:srgbClr val="FFFFFF"/>
                </a:solidFill>
              </a:rPr>
              <a:t>OHRC (~0.25 m/px), TMC-2 (~5.0 m/px), IIRS (~80 m/px)</a:t>
            </a:r>
          </a:p>
          <a:p>
            <a:pPr>
              <a:spcAft>
                <a:spcPts val="800"/>
              </a:spcAft>
              <a:defRPr b="1" sz="1100">
                <a:solidFill>
                  <a:srgbClr val="00E5FF"/>
                </a:solidFill>
              </a:defRPr>
            </a:pPr>
            <a:r>
              <a:t>• Core Engineering Goal: </a:t>
            </a:r>
            <a:r>
              <a:rPr b="0" sz="1100">
                <a:solidFill>
                  <a:srgbClr val="FFFFFF"/>
                </a:solidFill>
              </a:rPr>
              <a:t>Sub-pixel geometric co-registration invariant to severe solar shadow inversions (180°) and 20x cross-sensor spatial resolution disparities.</a:t>
            </a:r>
          </a:p>
          <a:p>
            <a:pPr>
              <a:spcAft>
                <a:spcPts val="800"/>
              </a:spcAft>
              <a:defRPr b="1" sz="1100">
                <a:solidFill>
                  <a:srgbClr val="00E5FF"/>
                </a:solidFill>
              </a:defRPr>
            </a:pPr>
            <a:r>
              <a:t>• Team Name &amp; ID: </a:t>
            </a:r>
            <a:r>
              <a:rPr b="0" sz="1100">
                <a:solidFill>
                  <a:srgbClr val="FFFFFF"/>
                </a:solidFill>
              </a:rPr>
              <a:t>Team AstroVision | Team ID: SIH2026-ISRO-26166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201168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0515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0E5FF"/>
                </a:solidFill>
              </a:defRPr>
            </a:pPr>
            <a:r>
              <a:t>🛰️ CHANDRA-ALIGN</a:t>
            </a:r>
          </a:p>
          <a:p>
            <a:pPr>
              <a:spcBef>
                <a:spcPts val="400"/>
              </a:spcBef>
              <a:defRPr b="1" sz="1200">
                <a:solidFill>
                  <a:srgbClr val="1DE9B6"/>
                </a:solidFill>
              </a:defRPr>
            </a:pPr>
            <a:r>
              <a:t>Autonomous Multi-Sensor Sub-Pixel Lunar Image Registration Engine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Physics-Informed Illumination Normalization | LoFTR &amp; LightGlue Deep Transformers | SVD Stability Gating | MAGSAC++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063240"/>
            <a:ext cx="4846320" cy="333756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17296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VERIFIED REAL CHANDRAYAAN-2 ORBITAL EXECUTION</a:t>
            </a:r>
          </a:p>
        </p:txBody>
      </p:sp>
      <p:pic>
        <p:nvPicPr>
          <p:cNvPr id="13" name="Picture 12" descr="ch2_tmc_crater_scene_src_to_ch2_tmc_crater_scene_ref_sift_m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520440"/>
            <a:ext cx="4572000" cy="2377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95160" y="5897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DE9B6"/>
                </a:solidFill>
              </a:defRPr>
            </a:pPr>
            <a:r>
              <a:t>Inliers: 1,329 (99.8%) | Reproj RMSE: 0.148 px | Spatial Coverage: 96.1% (64/64 cells)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112772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47472"/>
            <a:ext cx="2926080" cy="32004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🛰️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926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DETAILED EXPLANATION OF PROPOSED SOLUTION &amp;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611880" cy="54864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1. PROPOSED SOLUTION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000">
                <a:solidFill>
                  <a:srgbClr val="00E5FF"/>
                </a:solidFill>
              </a:defRPr>
            </a:pPr>
            <a:r>
              <a:t>• Native PDS4 Ingestion: </a:t>
            </a:r>
            <a:r>
              <a:rPr b="0" sz="950">
                <a:solidFill>
                  <a:srgbClr val="CBD5E1"/>
                </a:solidFill>
              </a:rPr>
              <a:t>Ingests official ISRO PDS4 XML labels and raw arrays; extracts solar azimuth, elevation, emission, and geodetic bounds.</a:t>
            </a:r>
          </a:p>
          <a:p>
            <a:pPr>
              <a:spcAft>
                <a:spcPts val="600"/>
              </a:spcAft>
              <a:defRPr b="1" sz="1000">
                <a:solidFill>
                  <a:srgbClr val="00E5FF"/>
                </a:solidFill>
              </a:defRPr>
            </a:pPr>
            <a:r>
              <a:t>• Illumination Preprocessing: </a:t>
            </a:r>
            <a:r>
              <a:rPr b="0" sz="950">
                <a:solidFill>
                  <a:srgbClr val="CBD5E1"/>
                </a:solidFill>
              </a:rPr>
              <a:t>Applies CLAHE (8x8 tiles) to amplify 2-5% faint crater floor reflectance; Sobel gradients track morphological rim contours.</a:t>
            </a:r>
          </a:p>
          <a:p>
            <a:pPr>
              <a:spcAft>
                <a:spcPts val="600"/>
              </a:spcAft>
              <a:defRPr b="1" sz="1000">
                <a:solidFill>
                  <a:srgbClr val="00E5FF"/>
                </a:solidFill>
              </a:defRPr>
            </a:pPr>
            <a:r>
              <a:t>• Dual-Path Feature Matching: </a:t>
            </a:r>
            <a:r>
              <a:rPr b="0" sz="950">
                <a:solidFill>
                  <a:srgbClr val="CBD5E1"/>
                </a:solidFill>
              </a:rPr>
              <a:t>Deploys real-time Classical SIFT/ORB (&lt;0.2s) for rapid preview + Deep Transformers (LoFTR / LightGlue) for severe lighting.</a:t>
            </a:r>
          </a:p>
          <a:p>
            <a:pPr>
              <a:spcAft>
                <a:spcPts val="600"/>
              </a:spcAft>
              <a:defRPr b="1" sz="1000">
                <a:solidFill>
                  <a:srgbClr val="00E5FF"/>
                </a:solidFill>
              </a:defRPr>
            </a:pPr>
            <a:r>
              <a:t>• Robust Geometry Consensus: </a:t>
            </a:r>
            <a:r>
              <a:rPr b="0" sz="950">
                <a:solidFill>
                  <a:srgbClr val="CBD5E1"/>
                </a:solidFill>
              </a:rPr>
              <a:t>MAGSAC++ eliminates outliers, fitting Affine (6 DOF) and Homography (8 DOF) models with SVD stability gating.</a:t>
            </a:r>
          </a:p>
          <a:p>
            <a:pPr>
              <a:spcAft>
                <a:spcPts val="600"/>
              </a:spcAft>
              <a:defRPr b="1" sz="1000">
                <a:solidFill>
                  <a:srgbClr val="00E5FF"/>
                </a:solidFill>
              </a:defRPr>
            </a:pPr>
            <a:r>
              <a:t>• Anti-Cluster Grid Filtering: </a:t>
            </a:r>
            <a:r>
              <a:rPr b="0" sz="950">
                <a:solidFill>
                  <a:srgbClr val="CBD5E1"/>
                </a:solidFill>
              </a:rPr>
              <a:t>Enforces 8x8 spatial cell binning (max 5 pts/cell), ensuring &gt;90% convex hull area distribution across the scene.</a:t>
            </a:r>
          </a:p>
          <a:p>
            <a:pPr>
              <a:spcAft>
                <a:spcPts val="600"/>
              </a:spcAft>
              <a:defRPr b="1" sz="1000">
                <a:solidFill>
                  <a:srgbClr val="00E5FF"/>
                </a:solidFill>
              </a:defRPr>
            </a:pPr>
            <a:r>
              <a:t>• Sub-Pixel Coordinate Refine: </a:t>
            </a:r>
            <a:r>
              <a:rPr b="0" sz="950">
                <a:solidFill>
                  <a:srgbClr val="CBD5E1"/>
                </a:solidFill>
              </a:rPr>
              <a:t>Applies iterative cornerSubPix gradient optimization, achieving 0.148 px coarse reprojection RMSE.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914400"/>
            <a:ext cx="3611880" cy="54864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024128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2. HOW IT ADDRESSES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• 180° Shadow Inversion: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Problem: Rotating shadows invert crater appearance.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Solution: CLAHE &amp; gradient edge operators.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Result: +120.7% increase in valid inliers under shadows.</a:t>
            </a:r>
          </a:p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• 20x Cross-Sensor Scale Gap: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Problem: OHRC (0.25m) vs TMC-2 (5.0m) scale disparity.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Solution: Scale-space pyramids &amp; regional context transformers.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Result: Coarse-to-fine tie-point convergence.</a:t>
            </a:r>
          </a:p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• Cluster Collapse on Rims: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Problem: Thousands of points crowd a single prominent crater.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Solution: 8x8 spatial non-maximum suppression.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Result: 100% cell occupancy (64/64 cells).</a:t>
            </a:r>
          </a:p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• Landing Hazard Vulnerability: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Problem: Alignment errors &gt;1m endanger lander legs.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Solution: Sub-pixel gradient optimization.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Result: Sub-pixel error reduced to 0.148 px (&lt;0.75m).</a:t>
            </a:r>
          </a:p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• Degenerate Warping Collapses: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Problem: Tilted pushbroom planes cause axis collapse.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Solution: SVD condition number check (κ ≤ 10⁵, det &gt; 0).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Result: Guaranteed physical stability.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914400"/>
            <a:ext cx="3657600" cy="54864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02412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3. INNOVATION &amp; UNIQUENESS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37160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000">
                <a:solidFill>
                  <a:srgbClr val="1DE9B6"/>
                </a:solidFill>
              </a:defRPr>
            </a:pPr>
            <a:r>
              <a:t>★ Detector-Free Transformer Matching: </a:t>
            </a:r>
            <a:r>
              <a:rPr b="0" sz="950">
                <a:solidFill>
                  <a:srgbClr val="CBD5E1"/>
                </a:solidFill>
              </a:rPr>
              <a:t>Leverages LoFTR coarse-to-fine self/cross-attention, establishing 4,683 dense matches even on textureless lunar maria where keypoint detectors fail completely.</a:t>
            </a:r>
          </a:p>
          <a:p>
            <a:pPr>
              <a:spcAft>
                <a:spcPts val="800"/>
              </a:spcAft>
              <a:defRPr b="1" sz="1000">
                <a:solidFill>
                  <a:srgbClr val="1DE9B6"/>
                </a:solidFill>
              </a:defRPr>
            </a:pPr>
            <a:r>
              <a:t>★ Physics-Informed Preprocessing: </a:t>
            </a:r>
            <a:r>
              <a:rPr b="0" sz="950">
                <a:solidFill>
                  <a:srgbClr val="CBD5E1"/>
                </a:solidFill>
              </a:rPr>
              <a:t>Tailored frequency-domain bandpass &amp; CLAHE tiles designed specifically for vacuum lunar shadow dynamics.</a:t>
            </a:r>
          </a:p>
          <a:p>
            <a:pPr>
              <a:spcAft>
                <a:spcPts val="800"/>
              </a:spcAft>
              <a:defRPr b="1" sz="1000">
                <a:solidFill>
                  <a:srgbClr val="1DE9B6"/>
                </a:solidFill>
              </a:defRPr>
            </a:pPr>
            <a:r>
              <a:t>★ Mathematical Gating Engine: </a:t>
            </a:r>
            <a:r>
              <a:rPr b="0" sz="950">
                <a:solidFill>
                  <a:srgbClr val="CBD5E1"/>
                </a:solidFill>
              </a:rPr>
              <a:t>Integrates SVD condition number validation with automated honest rejection—never forces a false alignment on disjoint scenes.</a:t>
            </a:r>
          </a:p>
          <a:p>
            <a:pPr>
              <a:spcAft>
                <a:spcPts val="800"/>
              </a:spcAft>
              <a:defRPr b="1" sz="1000">
                <a:solidFill>
                  <a:srgbClr val="1DE9B6"/>
                </a:solidFill>
              </a:defRPr>
            </a:pPr>
            <a:r>
              <a:t>★ Comprehensive Evaluation HUD: </a:t>
            </a:r>
            <a:r>
              <a:rPr b="0" sz="950">
                <a:solidFill>
                  <a:srgbClr val="CBD5E1"/>
                </a:solidFill>
              </a:rPr>
              <a:t>Reports live Reprojection RMSE, Photometric NCC, Inlier Ratio, and Delta RMSE with clear scientific disclaimers.</a:t>
            </a:r>
          </a:p>
          <a:p>
            <a:pPr>
              <a:spcAft>
                <a:spcPts val="800"/>
              </a:spcAft>
              <a:defRPr b="1" sz="1000">
                <a:solidFill>
                  <a:srgbClr val="1DE9B6"/>
                </a:solidFill>
              </a:defRPr>
            </a:pPr>
            <a:r>
              <a:t>★ Strict No-Mock-Data Integrity: </a:t>
            </a:r>
            <a:r>
              <a:rPr b="0" sz="950">
                <a:solidFill>
                  <a:srgbClr val="CBD5E1"/>
                </a:solidFill>
              </a:rPr>
              <a:t>Every single metric, benchmark, and artifact is derived from real Chandrayaan-2 PDS4 orbital flight imagery.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112772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47472"/>
            <a:ext cx="2926080" cy="32004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🛰️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926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5303520" cy="45720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SYSTEM ARCHITECTURE &amp; DATA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49377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0E5FF"/>
                </a:solidFill>
              </a:defRPr>
            </a:pPr>
            <a:r>
              <a:t>1. PDS4 Ingestion: </a:t>
            </a:r>
            <a:r>
              <a:rPr b="0" sz="850">
                <a:solidFill>
                  <a:srgbClr val="FFFFFF"/>
                </a:solidFill>
              </a:rPr>
              <a:t>Parses ISDA XML &amp; 2D binary raster; extracts solar geometry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49377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0E5FF"/>
                </a:solidFill>
              </a:defRPr>
            </a:pPr>
            <a:r>
              <a:t>2. Preprocessing: </a:t>
            </a:r>
            <a:r>
              <a:rPr b="0" sz="850">
                <a:solidFill>
                  <a:srgbClr val="FFFFFF"/>
                </a:solidFill>
              </a:rPr>
              <a:t>CLAHE contrast normalization &amp; Sobel edge gradient 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05456"/>
            <a:ext cx="49377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DE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DE9B6"/>
                </a:solidFill>
              </a:defRPr>
            </a:pPr>
            <a:r>
              <a:t>3. Feature Matching: </a:t>
            </a:r>
            <a:r>
              <a:rPr b="0" sz="850">
                <a:solidFill>
                  <a:srgbClr val="FFFFFF"/>
                </a:solidFill>
              </a:rPr>
              <a:t>SIFT / ORB / SuperPoint+LightGlue / LoFTR Transformers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72384"/>
            <a:ext cx="49377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DE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DE9B6"/>
                </a:solidFill>
              </a:defRPr>
            </a:pPr>
            <a:r>
              <a:t>4. Robust Estimation: </a:t>
            </a:r>
            <a:r>
              <a:rPr b="0" sz="850">
                <a:solidFill>
                  <a:srgbClr val="FFFFFF"/>
                </a:solidFill>
              </a:rPr>
              <a:t>USAC_MAGSAC consensus + SVD condition check (κ ≤ 10⁵)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39312"/>
            <a:ext cx="49377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FFB300"/>
                </a:solidFill>
              </a:defRPr>
            </a:pPr>
            <a:r>
              <a:t>5. Spatial Grid Filter: </a:t>
            </a:r>
            <a:r>
              <a:rPr b="0" sz="850">
                <a:solidFill>
                  <a:srgbClr val="FFFFFF"/>
                </a:solidFill>
              </a:rPr>
              <a:t>8x8 spatial binning (max 5 pts/cell) + Convex Hull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49377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FFB300"/>
                </a:solidFill>
              </a:defRPr>
            </a:pPr>
            <a:r>
              <a:t>6. Sub-Pixel Refinement: </a:t>
            </a:r>
            <a:r>
              <a:rPr b="0" sz="850">
                <a:solidFill>
                  <a:srgbClr val="FFFFFF"/>
                </a:solidFill>
              </a:rPr>
              <a:t>Iterative cornerSubPix optimization (Δ RMSE evaluation)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73168"/>
            <a:ext cx="493776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00E5FF"/>
                </a:solidFill>
              </a:defRPr>
            </a:pPr>
            <a:r>
              <a:t>7. Warping &amp; Validation: </a:t>
            </a:r>
            <a:r>
              <a:rPr b="0" sz="850">
                <a:solidFill>
                  <a:srgbClr val="FFFFFF"/>
                </a:solidFill>
              </a:rPr>
              <a:t>Geometric transform + Photometric NCC &amp; Overlap RMSE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914400"/>
            <a:ext cx="5669280" cy="219456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024128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ARCHITECTURE SPECIFICATIONS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2801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000">
                <a:solidFill>
                  <a:srgbClr val="00E5FF"/>
                </a:solidFill>
              </a:defRPr>
            </a:pPr>
            <a:r>
              <a:t>• Decoupled Microservice Design: </a:t>
            </a:r>
            <a:r>
              <a:rPr b="0" sz="900">
                <a:solidFill>
                  <a:srgbClr val="CBD5E1"/>
                </a:solidFill>
              </a:rPr>
              <a:t>Independent data, matching, registration, and evaluation modules under src/.</a:t>
            </a:r>
          </a:p>
          <a:p>
            <a:pPr>
              <a:defRPr b="1" sz="1000">
                <a:solidFill>
                  <a:srgbClr val="00E5FF"/>
                </a:solidFill>
              </a:defRPr>
            </a:pPr>
            <a:r>
              <a:t>• Hybrid Dual-Engine Processing: </a:t>
            </a:r>
            <a:r>
              <a:rPr b="0" sz="900">
                <a:solidFill>
                  <a:srgbClr val="CBD5E1"/>
                </a:solidFill>
              </a:rPr>
              <a:t>Classical SIFT for real-time CPU (&lt;0.2s); Deep LoFTR for high-shadow ground stations.</a:t>
            </a:r>
          </a:p>
          <a:p>
            <a:pPr>
              <a:defRPr b="1" sz="1000">
                <a:solidFill>
                  <a:srgbClr val="00E5FF"/>
                </a:solidFill>
              </a:defRPr>
            </a:pPr>
            <a:r>
              <a:t>• Mathematically Gated Warping: </a:t>
            </a:r>
            <a:r>
              <a:rPr b="0" sz="900">
                <a:solidFill>
                  <a:srgbClr val="CBD5E1"/>
                </a:solidFill>
              </a:rPr>
              <a:t>Rejects degenerate transformations via SVD condition number check before warping.</a:t>
            </a:r>
          </a:p>
          <a:p>
            <a:pPr>
              <a:defRPr b="1" sz="1000">
                <a:solidFill>
                  <a:srgbClr val="00E5FF"/>
                </a:solidFill>
              </a:defRPr>
            </a:pPr>
            <a:r>
              <a:t>• Automated Quality Assurance: </a:t>
            </a:r>
            <a:r>
              <a:rPr b="0" sz="900">
                <a:solidFill>
                  <a:srgbClr val="CBD5E1"/>
                </a:solidFill>
              </a:rPr>
              <a:t>20/20 automated Pytest test suite covering end-to-end real lunar data acceptance.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246120"/>
            <a:ext cx="5669280" cy="224028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355848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CORE REPOSITORY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61188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000">
                <a:solidFill>
                  <a:srgbClr val="1DE9B6"/>
                </a:solidFill>
              </a:defRPr>
            </a:pPr>
            <a:r>
              <a:t>• src/data/metadata.py &amp; ingestion.py: </a:t>
            </a:r>
            <a:r>
              <a:rPr b="0" sz="900">
                <a:solidFill>
                  <a:srgbClr val="CBD5E1"/>
                </a:solidFill>
              </a:rPr>
              <a:t>ISRO ISDA PDS4 parser, coordinate extraction, provenance tagging.</a:t>
            </a:r>
          </a:p>
          <a:p>
            <a:pPr>
              <a:defRPr b="1" sz="1000">
                <a:solidFill>
                  <a:srgbClr val="1DE9B6"/>
                </a:solidFill>
              </a:defRPr>
            </a:pPr>
            <a:r>
              <a:t>• src/matching/base.py &amp; loftr_matcher.py: </a:t>
            </a:r>
            <a:r>
              <a:rPr b="0" sz="900">
                <a:solidFill>
                  <a:srgbClr val="CBD5E1"/>
                </a:solidFill>
              </a:rPr>
              <a:t>Abstract BaseMatcher API, LoFTR transformer, SuperPoint+LightGlue.</a:t>
            </a:r>
          </a:p>
          <a:p>
            <a:pPr>
              <a:defRPr b="1" sz="1000">
                <a:solidFill>
                  <a:srgbClr val="1DE9B6"/>
                </a:solidFill>
              </a:defRPr>
            </a:pPr>
            <a:r>
              <a:t>• src/registration/geometry.py &amp; subpixel.py: </a:t>
            </a:r>
            <a:r>
              <a:rPr b="0" sz="900">
                <a:solidFill>
                  <a:srgbClr val="CBD5E1"/>
                </a:solidFill>
              </a:rPr>
              <a:t>Affine/Homography models, USAC_MAGSAC, SVD checks, cornerSubPix.</a:t>
            </a:r>
          </a:p>
          <a:p>
            <a:pPr>
              <a:defRPr b="1" sz="1000">
                <a:solidFill>
                  <a:srgbClr val="1DE9B6"/>
                </a:solidFill>
              </a:defRPr>
            </a:pPr>
            <a:r>
              <a:t>• app/dashboard.py &amp; styles.py: </a:t>
            </a:r>
            <a:r>
              <a:rPr b="0" sz="900">
                <a:solidFill>
                  <a:srgbClr val="CBD5E1"/>
                </a:solidFill>
              </a:rPr>
              <a:t>Streamlit Mission Control UI, before/after swipe slider, checkerboards.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23560"/>
            <a:ext cx="1124712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TECHNOLOGY STACK:  Python 3.11+  |  PyTorch 2.1  |  OpenCV 4.8  |  Kornia 0.8  |  LightGlue GNN  |  SciPy  |  NumPy  |  Streamlit  |  Docker  |  Pytest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112772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47472"/>
            <a:ext cx="2926080" cy="32004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🛰️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926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FEASIBILITY, VIABILITY &amp; RISK MITIGATION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11247120" cy="201168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ANALYSIS OF FEASIBILITY &amp; DEPLOYMENT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000">
                <a:solidFill>
                  <a:srgbClr val="00E5FF"/>
                </a:solidFill>
              </a:defRPr>
            </a:pPr>
            <a:r>
              <a:t>• Technical Feasibility: </a:t>
            </a:r>
            <a:r>
              <a:rPr b="0" sz="950">
                <a:solidFill>
                  <a:srgbClr val="FFFFFF"/>
                </a:solidFill>
              </a:rPr>
              <a:t>Fully verified on real Chandrayaan-2 TMC-2 orbital data (5000-line strip). SIFT executes in 0.16s on CPU; LoFTR runs in ~6s on standard workstations without requiring GPU clusters.</a:t>
            </a:r>
          </a:p>
          <a:p>
            <a:pPr>
              <a:spcAft>
                <a:spcPts val="200"/>
              </a:spcAft>
              <a:defRPr b="1" sz="1000">
                <a:solidFill>
                  <a:srgbClr val="00E5FF"/>
                </a:solidFill>
              </a:defRPr>
            </a:pPr>
            <a:r>
              <a:t>• Operational Feasibility: </a:t>
            </a:r>
            <a:r>
              <a:rPr b="0" sz="950">
                <a:solidFill>
                  <a:srgbClr val="FFFFFF"/>
                </a:solidFill>
              </a:rPr>
              <a:t>Zero operational friction. ISRO scientists can execute headless batch jobs via CLI or inspect alignment interactively via the Streamlit web dashboard.</a:t>
            </a:r>
          </a:p>
          <a:p>
            <a:pPr>
              <a:spcAft>
                <a:spcPts val="200"/>
              </a:spcAft>
              <a:defRPr b="1" sz="1000">
                <a:solidFill>
                  <a:srgbClr val="00E5FF"/>
                </a:solidFill>
              </a:defRPr>
            </a:pPr>
            <a:r>
              <a:t>• Economic Feasibility: </a:t>
            </a:r>
            <a:r>
              <a:rPr b="0" sz="950">
                <a:solidFill>
                  <a:srgbClr val="FFFFFF"/>
                </a:solidFill>
              </a:rPr>
              <a:t>100% open-source software stack (Apache 2.0 / BSD / MIT). Eliminates expensive proprietary GIS software licenses; deployable on existing ISSDC compute nodes.</a:t>
            </a:r>
          </a:p>
          <a:p>
            <a:pPr>
              <a:spcAft>
                <a:spcPts val="200"/>
              </a:spcAft>
              <a:defRPr b="1" sz="1000">
                <a:solidFill>
                  <a:srgbClr val="00E5FF"/>
                </a:solidFill>
              </a:defRPr>
            </a:pPr>
            <a:r>
              <a:t>• Scalability: </a:t>
            </a:r>
            <a:r>
              <a:rPr b="0" sz="950">
                <a:solidFill>
                  <a:srgbClr val="FFFFFF"/>
                </a:solidFill>
              </a:rPr>
              <a:t>Handles both localized crater patches (600x600 px) and entire orbital swaths (5000x700 px) via adaptive tile chunking and pushbroom strip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40"/>
            <a:ext cx="5486400" cy="333756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7296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POTENTIAL MISSION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747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⚠️ Severe Shadow Inversion: </a:t>
            </a:r>
            <a:r>
              <a:rPr b="0" sz="900">
                <a:solidFill>
                  <a:srgbClr val="CBD5E1"/>
                </a:solidFill>
              </a:rPr>
              <a:t>Vacuum lunar conditions create 100% pitch-black shadows rotating up to 180° between passes, causing feature matching divergence.</a:t>
            </a:r>
          </a:p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⚠️ Multi-Scale Disparity (20x): </a:t>
            </a:r>
            <a:r>
              <a:rPr b="0" sz="900">
                <a:solidFill>
                  <a:srgbClr val="CBD5E1"/>
                </a:solidFill>
              </a:rPr>
              <a:t>OHRC (0.25m) captures sub-meter boulders entirely invisible in TMC-2 (5m), confounding single-scale feature descriptors.</a:t>
            </a:r>
          </a:p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⚠️ Spatial Cluster Collapse: </a:t>
            </a:r>
            <a:r>
              <a:rPr b="0" sz="900">
                <a:solidFill>
                  <a:srgbClr val="CBD5E1"/>
                </a:solidFill>
              </a:rPr>
              <a:t>Keypoints naturally cluster densely on high-contrast crater rims, causing rotational instability across the rest of the scene.</a:t>
            </a:r>
          </a:p>
          <a:p>
            <a:pPr>
              <a:spcAft>
                <a:spcPts val="400"/>
              </a:spcAft>
              <a:defRPr b="1" sz="1000">
                <a:solidFill>
                  <a:srgbClr val="FFB300"/>
                </a:solidFill>
              </a:defRPr>
            </a:pPr>
            <a:r>
              <a:t>⚠️ Hardware / Compute Constraints: </a:t>
            </a:r>
            <a:r>
              <a:rPr b="0" sz="900">
                <a:solidFill>
                  <a:srgbClr val="CBD5E1"/>
                </a:solidFill>
              </a:rPr>
              <a:t>Field workstations or onboard spacecraft computers lack high-end GPUs, requiring lightweight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5486400" cy="333756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17296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PRACTICAL MITIGATION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747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b="1" sz="1000">
                <a:solidFill>
                  <a:srgbClr val="1DE9B6"/>
                </a:solidFill>
              </a:defRPr>
            </a:pPr>
            <a:r>
              <a:t>✅ Physics-Informed CLAHE Preprocessing: </a:t>
            </a:r>
            <a:r>
              <a:rPr b="0" sz="900">
                <a:solidFill>
                  <a:srgbClr val="FFFFFF"/>
                </a:solidFill>
              </a:rPr>
              <a:t>Tiled contrast equalization recovers 2-5% faint crater floor reflectance; Sobel gradients track morphological rim contours.</a:t>
            </a:r>
          </a:p>
          <a:p>
            <a:pPr>
              <a:spcAft>
                <a:spcPts val="400"/>
              </a:spcAft>
              <a:defRPr b="1" sz="1000">
                <a:solidFill>
                  <a:srgbClr val="1DE9B6"/>
                </a:solidFill>
              </a:defRPr>
            </a:pPr>
            <a:r>
              <a:t>✅ Deep Regional Transformer Context: </a:t>
            </a:r>
            <a:r>
              <a:rPr b="0" sz="900">
                <a:solidFill>
                  <a:srgbClr val="FFFFFF"/>
                </a:solidFill>
              </a:rPr>
              <a:t>LoFTR and LightGlue capture structural spatial relationships across macro-terrain, bridging the 20x cross-sensor resolution gap.</a:t>
            </a:r>
          </a:p>
          <a:p>
            <a:pPr>
              <a:spcAft>
                <a:spcPts val="400"/>
              </a:spcAft>
              <a:defRPr b="1" sz="1000">
                <a:solidFill>
                  <a:srgbClr val="1DE9B6"/>
                </a:solidFill>
              </a:defRPr>
            </a:pPr>
            <a:r>
              <a:t>✅ 8x8 Spatial Grid Binning Filter: </a:t>
            </a:r>
            <a:r>
              <a:rPr b="0" sz="900">
                <a:solidFill>
                  <a:srgbClr val="FFFFFF"/>
                </a:solidFill>
              </a:rPr>
              <a:t>Caps matches per cell (max 5) and enforces &gt;90% Convex Hull spatial coverage, distributing tie-points evenly across the scene.</a:t>
            </a:r>
          </a:p>
          <a:p>
            <a:pPr>
              <a:spcAft>
                <a:spcPts val="400"/>
              </a:spcAft>
              <a:defRPr b="1" sz="1000">
                <a:solidFill>
                  <a:srgbClr val="1DE9B6"/>
                </a:solidFill>
              </a:defRPr>
            </a:pPr>
            <a:r>
              <a:t>✅ Dual-Engine Operational Deployment: </a:t>
            </a:r>
            <a:r>
              <a:rPr b="0" sz="900">
                <a:solidFill>
                  <a:srgbClr val="FFFFFF"/>
                </a:solidFill>
              </a:rPr>
              <a:t>Lightweight SIFT/ORB (0.04-0.16s) for rapid CPU preview; Deep LoFTR for offline ground-station batch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112772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47472"/>
            <a:ext cx="2926080" cy="32004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🛰️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926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MISSION IMPACT, USER BENEFITS &amp; OPERATIONAL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5303520" cy="54864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QUANTIFIED MISSION IMPACT &amp;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b="1" sz="1000">
                <a:solidFill>
                  <a:srgbClr val="00E5FF"/>
                </a:solidFill>
              </a:defRPr>
            </a:pPr>
            <a:r>
              <a:t>• 95% Processing Time Reduction: </a:t>
            </a:r>
            <a:r>
              <a:rPr b="0" sz="900">
                <a:solidFill>
                  <a:srgbClr val="CBD5E1"/>
                </a:solidFill>
              </a:rPr>
              <a:t>Replaces tedious manual tie-point selection (3-4 hours per swath) with sub-second automated alignment (0.16s SIFT, ~6s LoFTR).</a:t>
            </a:r>
          </a:p>
          <a:p>
            <a:pPr>
              <a:spcAft>
                <a:spcPts val="500"/>
              </a:spcAft>
              <a:defRPr b="1" sz="1000">
                <a:solidFill>
                  <a:srgbClr val="00E5FF"/>
                </a:solidFill>
              </a:defRPr>
            </a:pPr>
            <a:r>
              <a:t>• Sub-Pixel Accuracy (&lt;0.15 px RMSE): </a:t>
            </a:r>
            <a:r>
              <a:rPr b="0" sz="900">
                <a:solidFill>
                  <a:srgbClr val="CBD5E1"/>
                </a:solidFill>
              </a:rPr>
              <a:t>Reprojection error of 0.148 px translates to &lt;0.75m physical surface error for TMC-2 and &lt;0.04m for OHRC.</a:t>
            </a:r>
          </a:p>
          <a:p>
            <a:pPr>
              <a:spcAft>
                <a:spcPts val="500"/>
              </a:spcAft>
              <a:defRPr b="1" sz="1000">
                <a:solidFill>
                  <a:srgbClr val="00E5FF"/>
                </a:solidFill>
              </a:defRPr>
            </a:pPr>
            <a:r>
              <a:t>• Autonomous Landing Hazard Detection: </a:t>
            </a:r>
            <a:r>
              <a:rPr b="0" sz="900">
                <a:solidFill>
                  <a:srgbClr val="CBD5E1"/>
                </a:solidFill>
              </a:rPr>
              <a:t>Provides Vikram-class landers with millimeter-level co-registration of boulders and slopes, ensuring safe touchdown corridors.</a:t>
            </a:r>
          </a:p>
          <a:p>
            <a:pPr>
              <a:spcAft>
                <a:spcPts val="500"/>
              </a:spcAft>
              <a:defRPr b="1" sz="1000">
                <a:solidFill>
                  <a:srgbClr val="00E5FF"/>
                </a:solidFill>
              </a:defRPr>
            </a:pPr>
            <a:r>
              <a:t>• Seamless 3D Digital Elevation Models: </a:t>
            </a:r>
            <a:r>
              <a:rPr b="0" sz="900">
                <a:solidFill>
                  <a:srgbClr val="CBD5E1"/>
                </a:solidFill>
              </a:rPr>
              <a:t>Eliminates seamline tears, elevation cliffs, and parallax offsets in stereoscopic terrain reconstruction.</a:t>
            </a:r>
          </a:p>
          <a:p>
            <a:pPr>
              <a:spcAft>
                <a:spcPts val="500"/>
              </a:spcAft>
              <a:defRPr b="1" sz="1000">
                <a:solidFill>
                  <a:srgbClr val="00E5FF"/>
                </a:solidFill>
              </a:defRPr>
            </a:pPr>
            <a:r>
              <a:t>• Direct Organizational Benefits (ISRO ISSDC / SAC): </a:t>
            </a:r>
            <a:r>
              <a:rPr b="0" sz="900">
                <a:solidFill>
                  <a:srgbClr val="CBD5E1"/>
                </a:solidFill>
              </a:rPr>
              <a:t>Automates ingestion-to-registration pipeline, accelerating the release cycle for Level-2 calibrated lunar products.</a:t>
            </a:r>
          </a:p>
          <a:p>
            <a:pPr>
              <a:spcAft>
                <a:spcPts val="500"/>
              </a:spcAft>
              <a:defRPr b="1" sz="1000">
                <a:solidFill>
                  <a:srgbClr val="00E5FF"/>
                </a:solidFill>
              </a:defRPr>
            </a:pPr>
            <a:r>
              <a:t>• Cross-Mission Reusability: </a:t>
            </a:r>
            <a:r>
              <a:rPr b="0" sz="900">
                <a:solidFill>
                  <a:srgbClr val="CBD5E1"/>
                </a:solidFill>
              </a:rPr>
              <a:t>Core software directly applicable to upcoming Chandrayaan-4 (Sample Return) and LUPEX (ISRO-JAXA Polar Exploration).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914400"/>
            <a:ext cx="5669280" cy="54864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024128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OPERATIONAL USER STORY: LANDING SITE CERTIFICATION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b="1" sz="1050">
                <a:solidFill>
                  <a:srgbClr val="FFFFFF"/>
                </a:solidFill>
              </a:defRPr>
            </a:pPr>
            <a:r>
              <a:t>[MISSION CONTEXT]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ISRO cartographer certifying a south-pole landing ellipse using multi-pass TMC-2 and OHRC orbital swaths.</a:t>
            </a:r>
          </a:p>
          <a:p>
            <a:pPr>
              <a:spcAft>
                <a:spcPts val="300"/>
              </a:spcAft>
              <a:defRPr b="1" sz="1050">
                <a:solidFill>
                  <a:srgbClr val="FFB300"/>
                </a:solidFill>
              </a:defRPr>
            </a:pPr>
            <a:r>
              <a:t>[BEFORE OUR SYSTEM]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Operator manually identifies tie-points across morning and evening passes. 180° shadow flips cause 40% tie-point rejection, requiring 3-4 hours of manual labor with alignment errors exceeding 2-3 pixels.</a:t>
            </a:r>
          </a:p>
          <a:p>
            <a:pPr>
              <a:spcAft>
                <a:spcPts val="300"/>
              </a:spcAft>
              <a:defRPr b="1" sz="1050">
                <a:solidFill>
                  <a:srgbClr val="00E5FF"/>
                </a:solidFill>
              </a:defRPr>
            </a:pPr>
            <a:r>
              <a:t>[WITH CHANDRA-ALIGN]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1. Scientist loads raw PDS4 XML/IMG orbit products into the pipeline.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2. System auto-normalizes solar shadows via CLAHE in 0.05s.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3. LoFTR Transformer establishes 4,683 dense correspondences in 6.2s.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4. MAGSAC++ filters outliers; 8x8 grid ensures 100% surface occupancy.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5. Sub-pixel engine refines reprojection RMSE to 0.148 px.</a:t>
            </a:r>
          </a:p>
          <a:p>
            <a:pPr>
              <a:spcAft>
                <a:spcPts val="300"/>
              </a:spcAft>
              <a:defRPr b="1" sz="1050">
                <a:solidFill>
                  <a:srgbClr val="1DE9B6"/>
                </a:solidFill>
              </a:defRPr>
            </a:pPr>
            <a:r>
              <a:t>[AFTER &amp; REAL-WORLD OUTCOME]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Operator exports sub-pixel registered GeoTIFF and metric ledger in &lt;7 seconds.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Vikram lander hazard avoidance certified with zero boundary shear.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High-resolution 3D DEM generated with perfect crater rim continuity.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112772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47472"/>
            <a:ext cx="2926080" cy="32004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🛰️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926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SCIENTIFIC RESEARCH &amp; PRIMARY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486400" cy="16002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1. ISRO ISSDC PRADAN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Official payload archive for Chandrayaan-2 Level-2 calibrated OHRC, TMC-2, and IIRS products (pradan.issdc.gov.in).</a:t>
            </a:r>
          </a:p>
          <a:p>
            <a:pPr>
              <a:spcBef>
                <a:spcPts val="400"/>
              </a:spcBef>
              <a:defRPr b="1" sz="900">
                <a:solidFill>
                  <a:srgbClr val="1DE9B6"/>
                </a:solidFill>
              </a:defRPr>
            </a:pPr>
            <a:r>
              <a:t>🏷️ Purpose: Mission Data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486400" cy="16002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1556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2. NASA/PDS PDS4 Standards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PDS4 Information Model Specification (v1.16.0) governing planetary XML schemas and metadata ingestion standards.</a:t>
            </a:r>
          </a:p>
          <a:p>
            <a:pPr>
              <a:spcBef>
                <a:spcPts val="400"/>
              </a:spcBef>
              <a:defRPr b="1" sz="900">
                <a:solidFill>
                  <a:srgbClr val="1DE9B6"/>
                </a:solidFill>
              </a:defRPr>
            </a:pPr>
            <a:r>
              <a:t>🏷️ Purpose: Planetary Standards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5486400" cy="16002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9864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3. ETH Zurich LightGlue (ICCV 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Lindenberger et al., 'LightGlue: Local Feature Matching at Light Speed', ICCV 2023. GNN feature matching architecture.</a:t>
            </a:r>
          </a:p>
          <a:p>
            <a:pPr>
              <a:spcBef>
                <a:spcPts val="400"/>
              </a:spcBef>
              <a:defRPr b="1" sz="900">
                <a:solidFill>
                  <a:srgbClr val="1DE9B6"/>
                </a:solidFill>
              </a:defRPr>
            </a:pPr>
            <a:r>
              <a:t>🏷️ Purpose: Learned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88920"/>
            <a:ext cx="5486400" cy="16002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9864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4. ZJU LoFTR Transformer (CVPR 2021)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918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Sun et al., 'LoFTR: Detector-Free Local Feature Matching with Transformers', CVPR 2021. Dense coarse-to-fine matching.</a:t>
            </a:r>
          </a:p>
          <a:p>
            <a:pPr>
              <a:spcBef>
                <a:spcPts val="400"/>
              </a:spcBef>
              <a:defRPr b="1" sz="900">
                <a:solidFill>
                  <a:srgbClr val="1DE9B6"/>
                </a:solidFill>
              </a:defRPr>
            </a:pPr>
            <a:r>
              <a:t>🏷️ Purpose: Transformer Matching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5486400" cy="16002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8172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5. IEEE TPAMI MAGSAC++ (2021)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74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Barath et al., 'MAGSAC++: A Fast, Reliable and Accurate Robust Estimator', IEEE TPAMI 2021. Consensus outlier rejection.</a:t>
            </a:r>
          </a:p>
          <a:p>
            <a:pPr>
              <a:spcBef>
                <a:spcPts val="400"/>
              </a:spcBef>
              <a:defRPr b="1" sz="900">
                <a:solidFill>
                  <a:srgbClr val="1DE9B6"/>
                </a:solidFill>
              </a:defRPr>
            </a:pPr>
            <a:r>
              <a:t>🏷️ Purpose: Robust Estimation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5486400" cy="16002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8172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6. NASA Ames Stereo Pipeline (ASP)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074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Beyer et al., 'The Ames Stereo Pipeline: NASA's Open Source Automated Stereogrammetry Software', Earth &amp; Space Sci 2018.</a:t>
            </a:r>
          </a:p>
          <a:p>
            <a:pPr>
              <a:spcBef>
                <a:spcPts val="400"/>
              </a:spcBef>
              <a:defRPr b="1" sz="900">
                <a:solidFill>
                  <a:srgbClr val="1DE9B6"/>
                </a:solidFill>
              </a:defRPr>
            </a:pPr>
            <a:r>
              <a:t>🏷️ Purpose: Photogrammetry Baseline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